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hlq9C0nRWtX6CSa5QUnsYSEITl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 everyone. My name is [name], and I'm presenting on behalf of our team — Muhammad Umar Hayat, Jaleel Ur Rehman, Efty, and Zulkar Nain Sayeed. Today we're presenting our Hardware Engineering Lab project for SS 2026: a Password-Protected Parking System Controller, implemented in VHDL and tested on the Digilent Nexys A7-100T FPGA board.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what exactly did we build? It's a fully digital parking lot controller — no microcontroller, no software, just programmable logic on an FPGA. The system does three things: it controls vehicle access using a 4-bit password entered via on-board switches — wrong code means entry is blocked. It tracks occupancy in real time with a maximum capacity of 15 spaces and automatically prevents new entries when the lot is full. And it gives continuous status feedback through LEDs and a seven-segment display. </a:t>
            </a:r>
            <a:endParaRP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slide shows the overall architecture of our parking system. The design is divided into two VHDL entities: the </a:t>
            </a:r>
            <a:r>
              <a:rPr b="1" lang="en-US" sz="1100">
                <a:latin typeface="Arial"/>
                <a:ea typeface="Arial"/>
                <a:cs typeface="Arial"/>
                <a:sym typeface="Arial"/>
              </a:rPr>
              <a:t>debounce_pulse</a:t>
            </a:r>
            <a:r>
              <a:rPr lang="en-US" sz="1100">
                <a:latin typeface="Arial"/>
                <a:ea typeface="Arial"/>
                <a:cs typeface="Arial"/>
                <a:sym typeface="Arial"/>
              </a:rPr>
              <a:t> module and the </a:t>
            </a:r>
            <a:r>
              <a:rPr b="1" lang="en-US" sz="1100">
                <a:latin typeface="Arial"/>
                <a:ea typeface="Arial"/>
                <a:cs typeface="Arial"/>
                <a:sym typeface="Arial"/>
              </a:rPr>
              <a:t>parking_top</a:t>
            </a:r>
            <a:r>
              <a:rPr lang="en-US" sz="1100">
                <a:latin typeface="Arial"/>
                <a:ea typeface="Arial"/>
                <a:cs typeface="Arial"/>
                <a:sym typeface="Arial"/>
              </a:rPr>
              <a:t> module.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 the left are the system inputs. The four push buttons are first connected to the debounce module. Mechanical buttons don't produce a clean signal when pressed—they generate multiple rapid transitions, known as button bounce. The debounce module removes these unwanted transitions and generates a single clean pulse for each button press.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four password switches are connected directly to the </a:t>
            </a:r>
            <a:r>
              <a:rPr b="1" lang="en-US" sz="1100">
                <a:latin typeface="Arial"/>
                <a:ea typeface="Arial"/>
                <a:cs typeface="Arial"/>
                <a:sym typeface="Arial"/>
              </a:rPr>
              <a:t>parking_top</a:t>
            </a:r>
            <a:r>
              <a:rPr lang="en-US" sz="1100">
                <a:latin typeface="Arial"/>
                <a:ea typeface="Arial"/>
                <a:cs typeface="Arial"/>
                <a:sym typeface="Arial"/>
              </a:rPr>
              <a:t> module because switches remain stable and don't require debouncing.</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a:t>
            </a:r>
            <a:r>
              <a:rPr b="1" lang="en-US" sz="1100">
                <a:latin typeface="Arial"/>
                <a:ea typeface="Arial"/>
                <a:cs typeface="Arial"/>
                <a:sym typeface="Arial"/>
              </a:rPr>
              <a:t>parking_top</a:t>
            </a:r>
            <a:r>
              <a:rPr lang="en-US" sz="1100">
                <a:latin typeface="Arial"/>
                <a:ea typeface="Arial"/>
                <a:cs typeface="Arial"/>
                <a:sym typeface="Arial"/>
              </a:rPr>
              <a:t> module is the main controller. It verifies the password, updates the parking occupancy counter, controls the LEDs, and drives the seven-segment display. Both modules operate using the same </a:t>
            </a:r>
            <a:r>
              <a:rPr b="1" lang="en-US" sz="1100">
                <a:latin typeface="Arial"/>
                <a:ea typeface="Arial"/>
                <a:cs typeface="Arial"/>
                <a:sym typeface="Arial"/>
              </a:rPr>
              <a:t>100 MHz FPGA clock</a:t>
            </a:r>
            <a:r>
              <a:rPr lang="en-US" sz="1100">
                <a:latin typeface="Arial"/>
                <a:ea typeface="Arial"/>
                <a:cs typeface="Arial"/>
                <a:sym typeface="Arial"/>
              </a:rPr>
              <a:t>, allowing all logic to remain synchronized</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p:txBody>
      </p:sp>
      <p:sp>
        <p:nvSpPr>
          <p:cNvPr id="49" name="Google Shape;4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slide highlights the three most important parts of our VHDL implementation.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first block is the </a:t>
            </a:r>
            <a:r>
              <a:rPr b="1" lang="en-US" sz="1100">
                <a:latin typeface="Arial"/>
                <a:ea typeface="Arial"/>
                <a:cs typeface="Arial"/>
                <a:sym typeface="Arial"/>
              </a:rPr>
              <a:t>password verification</a:t>
            </a:r>
            <a:r>
              <a:rPr lang="en-US" sz="1100">
                <a:latin typeface="Arial"/>
                <a:ea typeface="Arial"/>
                <a:cs typeface="Arial"/>
                <a:sym typeface="Arial"/>
              </a:rPr>
              <a:t>. We define the authorized 4-bit password as </a:t>
            </a:r>
            <a:r>
              <a:rPr b="1" lang="en-US" sz="1100">
                <a:latin typeface="Arial"/>
                <a:ea typeface="Arial"/>
                <a:cs typeface="Arial"/>
                <a:sym typeface="Arial"/>
              </a:rPr>
              <a:t>1010</a:t>
            </a:r>
            <a:r>
              <a:rPr lang="en-US" sz="1100">
                <a:latin typeface="Arial"/>
                <a:ea typeface="Arial"/>
                <a:cs typeface="Arial"/>
                <a:sym typeface="Arial"/>
              </a:rPr>
              <a:t>. Whenever the Verify button is pressed, the FPGA compares the switch inputs with this stored value. If they match, the signal </a:t>
            </a:r>
            <a:r>
              <a:rPr b="1" lang="en-US" sz="1100">
                <a:latin typeface="Arial"/>
                <a:ea typeface="Arial"/>
                <a:cs typeface="Arial"/>
                <a:sym typeface="Arial"/>
              </a:rPr>
              <a:t>pw_ok</a:t>
            </a:r>
            <a:r>
              <a:rPr lang="en-US" sz="1100">
                <a:latin typeface="Arial"/>
                <a:ea typeface="Arial"/>
                <a:cs typeface="Arial"/>
                <a:sym typeface="Arial"/>
              </a:rPr>
              <a:t> becomes high and access is granted. Otherwise, access is denied.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second block is the </a:t>
            </a:r>
            <a:r>
              <a:rPr b="1" lang="en-US" sz="1100">
                <a:latin typeface="Arial"/>
                <a:ea typeface="Arial"/>
                <a:cs typeface="Arial"/>
                <a:sym typeface="Arial"/>
              </a:rPr>
              <a:t>entry and exit counter</a:t>
            </a:r>
            <a:r>
              <a:rPr lang="en-US" sz="1100">
                <a:latin typeface="Arial"/>
                <a:ea typeface="Arial"/>
                <a:cs typeface="Arial"/>
                <a:sym typeface="Arial"/>
              </a:rPr>
              <a:t>. A vehicle is allowed to enter only when the password is correct and the parking lot is not full. In that case, the occupied count increases by one. For exiting, no password is required. The counter decreases, but it never goes below zero, preventing underflow.</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Finally, the third block shows the </a:t>
            </a:r>
            <a:r>
              <a:rPr b="1" lang="en-US" sz="1100">
                <a:latin typeface="Arial"/>
                <a:ea typeface="Arial"/>
                <a:cs typeface="Arial"/>
                <a:sym typeface="Arial"/>
              </a:rPr>
              <a:t>debounce entity</a:t>
            </a:r>
            <a:r>
              <a:rPr lang="en-US" sz="1100">
                <a:latin typeface="Arial"/>
                <a:ea typeface="Arial"/>
                <a:cs typeface="Arial"/>
                <a:sym typeface="Arial"/>
              </a:rPr>
              <a:t>. It waits until a button input remains stable for approximately </a:t>
            </a:r>
            <a:r>
              <a:rPr b="1" lang="en-US" sz="1100">
                <a:latin typeface="Arial"/>
                <a:ea typeface="Arial"/>
                <a:cs typeface="Arial"/>
                <a:sym typeface="Arial"/>
              </a:rPr>
              <a:t>20 milliseconds</a:t>
            </a:r>
            <a:r>
              <a:rPr lang="en-US" sz="1100">
                <a:latin typeface="Arial"/>
                <a:ea typeface="Arial"/>
                <a:cs typeface="Arial"/>
                <a:sym typeface="Arial"/>
              </a:rPr>
              <a:t>, which corresponds to </a:t>
            </a:r>
            <a:r>
              <a:rPr b="1" lang="en-US" sz="1100">
                <a:latin typeface="Arial"/>
                <a:ea typeface="Arial"/>
                <a:cs typeface="Arial"/>
                <a:sym typeface="Arial"/>
              </a:rPr>
              <a:t>2 million clock cycles at 100 MHz</a:t>
            </a:r>
            <a:r>
              <a:rPr lang="en-US" sz="1100">
                <a:latin typeface="Arial"/>
                <a:ea typeface="Arial"/>
                <a:cs typeface="Arial"/>
                <a:sym typeface="Arial"/>
              </a:rPr>
              <a:t>. This ensures that every physical button press generates only one clean pulse and prevents false counts</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57" name="Google Shape;5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entry flow has four steps. First, the user sets switches SW3 to SW0 to the access code — that's 1, 0, 1, 0 in binary. Second, they press BTNL to verify. The controller compares the switch state against the stored constant. A match shows the letter A on the display for Accepted; no match shows E for Error and blocks further entry. Third, if accepted and the lot is not full, pressing BTNU increments the counter and the available spaces on the display decreases by one. Fourth, any vehicle can exit freely by pressing BTND — the counter decrements with no password required. </a:t>
            </a:r>
            <a:endParaRPr/>
          </a:p>
        </p:txBody>
      </p:sp>
      <p:sp>
        <p:nvSpPr>
          <p:cNvPr id="80" name="Google Shape;8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system communicates through two output channels. The seven-segment display uses three digit positions: the leftmost digit shows A when the password was accepted or E when rejected. The middle and rightmost digits show the two-digit count of free spaces. On the LED side: LED0 lights when at least one space is free, LED1 when the lot is completely full, LED2 confirms a correct password, and LED3 signals a wrong one. The remaining LEDs from 4 to 15 are unused and held low </a:t>
            </a:r>
            <a:endParaRPr/>
          </a:p>
        </p:txBody>
      </p:sp>
      <p:sp>
        <p:nvSpPr>
          <p:cNvPr id="107" name="Google Shape;10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our custom PCB concept designed in Altium Designer. The goal was to take everything on the Nexys development board and reduce it to only what our parking system actually needs. At the center is U1 — the Lattice MachXO2-640HC FPGA. The large black component at the top is DS5, our 4-digit seven-segment display. Bottom left shows SW5, the 4-position DIP switch used for password input, and SW1 through SW4 are the tactile push buttons for entry, exit, reset, and verify. The resistors R1 through R20 handle current limiting for the LEDs and display segments, and C1 through C7 are the decoupling capacitors placed close to the FPGA power pins. </a:t>
            </a:r>
            <a:endParaRPr/>
          </a:p>
        </p:txBody>
      </p:sp>
      <p:sp>
        <p:nvSpPr>
          <p:cNvPr id="142" name="Google Shape;14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0326eaa19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f0326eaa19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Here is the complete bill of materials for the custom PCB. All prices have been verified directly from supplier websites — Arrow, Newark, Mouser, and RS. The total cost excluding the FPGA comes to approximately 12.38 euros. Including the FPGA at 8.34 euros from Mouser, the full board cost is approximately 20.72 euros. One important note — the Lattice MachXO2-640HC currently has a 53-week factory lead time and is on backorder, so early ordering would be necessary for any physical production. </a:t>
            </a:r>
            <a:endParaRPr/>
          </a:p>
        </p:txBody>
      </p:sp>
      <p:sp>
        <p:nvSpPr>
          <p:cNvPr id="175" name="Google Shape;175;g3f0326eaa19_0_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verify the design we followed a three-step flow. First, a VHDL testbench simulated all key scenarios — reset, correct and wrong passwords, sequential entry and exit, and the full-lot boundary. Second, the design was synthesized and implemented in Vivado with the Nexys A7-100T XDC pin constraints. Third, the bitstream was loaded onto the physical board and all functions were confirmed in hardware. To summarize the key figures: 15-space capacity, 4-bit password 1010, 20 millisecond debounce, 100 MHz clock, 3-digit seven-segment display, Artix-7 FPGA on the prototype board, and Altium Designer for the PCB. Thank you — we're happy to take any questions. </a:t>
            </a:r>
            <a:endParaRPr/>
          </a:p>
        </p:txBody>
      </p:sp>
      <p:sp>
        <p:nvSpPr>
          <p:cNvPr id="316" name="Google Shape;31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f0326eaa19_0_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f0326eaa19_0_1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g3f0326eaa19_0_16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5" name="Shape 15"/>
        <p:cNvGrpSpPr/>
        <p:nvPr/>
      </p:nvGrpSpPr>
      <p:grpSpPr>
        <a:xfrm>
          <a:off x="0" y="0"/>
          <a:ext cx="0" cy="0"/>
          <a:chOff x="0" y="0"/>
          <a:chExt cx="0" cy="0"/>
        </a:xfrm>
      </p:grpSpPr>
      <p:sp>
        <p:nvSpPr>
          <p:cNvPr id="16" name="Google Shape;16;p1"/>
          <p:cNvSpPr/>
          <p:nvPr/>
        </p:nvSpPr>
        <p:spPr>
          <a:xfrm>
            <a:off x="548640" y="822960"/>
            <a:ext cx="80467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mbria"/>
              <a:buNone/>
            </a:pPr>
            <a:r>
              <a:rPr b="1" i="0" lang="en-US" sz="3600" u="none" cap="none" strike="noStrike">
                <a:solidFill>
                  <a:srgbClr val="FFFFFF"/>
                </a:solidFill>
                <a:latin typeface="Cambria"/>
                <a:ea typeface="Cambria"/>
                <a:cs typeface="Cambria"/>
                <a:sym typeface="Cambria"/>
              </a:rPr>
              <a:t>Password-Protected</a:t>
            </a:r>
            <a:endParaRPr b="0" i="0" sz="3600" u="none" cap="none" strike="noStrike">
              <a:solidFill>
                <a:schemeClr val="dk1"/>
              </a:solidFill>
              <a:latin typeface="Calibri"/>
              <a:ea typeface="Calibri"/>
              <a:cs typeface="Calibri"/>
              <a:sym typeface="Calibri"/>
            </a:endParaRPr>
          </a:p>
        </p:txBody>
      </p:sp>
      <p:sp>
        <p:nvSpPr>
          <p:cNvPr id="17" name="Google Shape;17;p1"/>
          <p:cNvSpPr/>
          <p:nvPr/>
        </p:nvSpPr>
        <p:spPr>
          <a:xfrm>
            <a:off x="548640" y="1508760"/>
            <a:ext cx="804672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C39A"/>
              </a:buClr>
              <a:buSzPts val="3600"/>
              <a:buFont typeface="Cambria"/>
              <a:buNone/>
            </a:pPr>
            <a:r>
              <a:rPr b="1" i="0" lang="en-US" sz="3600" u="none" cap="none" strike="noStrike">
                <a:solidFill>
                  <a:srgbClr val="02C39A"/>
                </a:solidFill>
                <a:latin typeface="Cambria"/>
                <a:ea typeface="Cambria"/>
                <a:cs typeface="Cambria"/>
                <a:sym typeface="Cambria"/>
              </a:rPr>
              <a:t>Parking System Controller</a:t>
            </a:r>
            <a:endParaRPr b="0" i="0" sz="3600" u="none" cap="none" strike="noStrike">
              <a:solidFill>
                <a:schemeClr val="dk1"/>
              </a:solidFill>
              <a:latin typeface="Calibri"/>
              <a:ea typeface="Calibri"/>
              <a:cs typeface="Calibri"/>
              <a:sym typeface="Calibri"/>
            </a:endParaRPr>
          </a:p>
        </p:txBody>
      </p:sp>
      <p:sp>
        <p:nvSpPr>
          <p:cNvPr id="18" name="Google Shape;18;p1"/>
          <p:cNvSpPr/>
          <p:nvPr/>
        </p:nvSpPr>
        <p:spPr>
          <a:xfrm>
            <a:off x="548640" y="2423160"/>
            <a:ext cx="80467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4CC"/>
              </a:buClr>
              <a:buSzPts val="1600"/>
              <a:buFont typeface="Calibri"/>
              <a:buNone/>
            </a:pPr>
            <a:r>
              <a:rPr b="0" i="0" lang="en-US" sz="1600" u="none" cap="none" strike="noStrike">
                <a:solidFill>
                  <a:srgbClr val="A0B4CC"/>
                </a:solidFill>
                <a:latin typeface="Calibri"/>
                <a:ea typeface="Calibri"/>
                <a:cs typeface="Calibri"/>
                <a:sym typeface="Calibri"/>
              </a:rPr>
              <a:t>VHDL Implementation on Nexys A7-100T FPGA</a:t>
            </a:r>
            <a:endParaRPr b="0" i="0" sz="1600" u="none" cap="none" strike="noStrike">
              <a:solidFill>
                <a:schemeClr val="dk1"/>
              </a:solidFill>
              <a:latin typeface="Calibri"/>
              <a:ea typeface="Calibri"/>
              <a:cs typeface="Calibri"/>
              <a:sym typeface="Calibri"/>
            </a:endParaRPr>
          </a:p>
        </p:txBody>
      </p:sp>
      <p:sp>
        <p:nvSpPr>
          <p:cNvPr id="19" name="Google Shape;19;p1"/>
          <p:cNvSpPr/>
          <p:nvPr/>
        </p:nvSpPr>
        <p:spPr>
          <a:xfrm>
            <a:off x="548640" y="3017520"/>
            <a:ext cx="8046720" cy="1600200"/>
          </a:xfrm>
          <a:prstGeom prst="roundRect">
            <a:avLst>
              <a:gd fmla="val 6857" name="adj"/>
            </a:avLst>
          </a:prstGeom>
          <a:solidFill>
            <a:srgbClr val="24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822960" y="3127248"/>
            <a:ext cx="10972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4CC"/>
              </a:buClr>
              <a:buSzPts val="900"/>
              <a:buFont typeface="Calibri"/>
              <a:buNone/>
            </a:pPr>
            <a:r>
              <a:rPr b="1" i="0" lang="en-US" sz="900" u="none" cap="none" strike="noStrike">
                <a:solidFill>
                  <a:srgbClr val="A0B4CC"/>
                </a:solidFill>
                <a:latin typeface="Calibri"/>
                <a:ea typeface="Calibri"/>
                <a:cs typeface="Calibri"/>
                <a:sym typeface="Calibri"/>
              </a:rPr>
              <a:t>TEAM</a:t>
            </a:r>
            <a:endParaRPr b="0" i="0" sz="900" u="none" cap="none" strike="noStrike">
              <a:solidFill>
                <a:schemeClr val="dk1"/>
              </a:solidFill>
              <a:latin typeface="Calibri"/>
              <a:ea typeface="Calibri"/>
              <a:cs typeface="Calibri"/>
              <a:sym typeface="Calibri"/>
            </a:endParaRPr>
          </a:p>
        </p:txBody>
      </p:sp>
      <p:sp>
        <p:nvSpPr>
          <p:cNvPr id="21" name="Google Shape;21;p1"/>
          <p:cNvSpPr/>
          <p:nvPr/>
        </p:nvSpPr>
        <p:spPr>
          <a:xfrm>
            <a:off x="822960" y="3493008"/>
            <a:ext cx="164592" cy="164592"/>
          </a:xfrm>
          <a:prstGeom prst="ellipse">
            <a:avLst/>
          </a:prstGeom>
          <a:solidFill>
            <a:srgbClr val="02C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1078992" y="3429000"/>
            <a:ext cx="3566160" cy="34747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1300"/>
              <a:buFont typeface="Calibri"/>
              <a:buNone/>
            </a:pPr>
            <a:r>
              <a:rPr lang="en-US" sz="1300">
                <a:solidFill>
                  <a:schemeClr val="lt1"/>
                </a:solidFill>
                <a:latin typeface="Calibri"/>
                <a:ea typeface="Calibri"/>
                <a:cs typeface="Calibri"/>
                <a:sym typeface="Calibri"/>
              </a:rPr>
              <a:t>Zulkar Nain Sayeed</a:t>
            </a:r>
            <a:endParaRPr sz="1300">
              <a:solidFill>
                <a:srgbClr val="FFFFFF"/>
              </a:solidFill>
              <a:latin typeface="Calibri"/>
              <a:ea typeface="Calibri"/>
              <a:cs typeface="Calibri"/>
              <a:sym typeface="Calibri"/>
            </a:endParaRPr>
          </a:p>
        </p:txBody>
      </p:sp>
      <p:sp>
        <p:nvSpPr>
          <p:cNvPr id="23" name="Google Shape;23;p1"/>
          <p:cNvSpPr/>
          <p:nvPr/>
        </p:nvSpPr>
        <p:spPr>
          <a:xfrm>
            <a:off x="4846320" y="3493008"/>
            <a:ext cx="164592" cy="164592"/>
          </a:xfrm>
          <a:prstGeom prst="ellipse">
            <a:avLst/>
          </a:prstGeom>
          <a:solidFill>
            <a:srgbClr val="02C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5102352" y="3429000"/>
            <a:ext cx="356616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Jaleel Ur Rehman</a:t>
            </a:r>
            <a:endParaRPr b="0" i="0" sz="1300" u="none" cap="none" strike="noStrike">
              <a:solidFill>
                <a:schemeClr val="dk1"/>
              </a:solidFill>
              <a:latin typeface="Calibri"/>
              <a:ea typeface="Calibri"/>
              <a:cs typeface="Calibri"/>
              <a:sym typeface="Calibri"/>
            </a:endParaRPr>
          </a:p>
        </p:txBody>
      </p:sp>
      <p:sp>
        <p:nvSpPr>
          <p:cNvPr id="25" name="Google Shape;25;p1"/>
          <p:cNvSpPr/>
          <p:nvPr/>
        </p:nvSpPr>
        <p:spPr>
          <a:xfrm>
            <a:off x="822960" y="3968496"/>
            <a:ext cx="164592" cy="164592"/>
          </a:xfrm>
          <a:prstGeom prst="ellipse">
            <a:avLst/>
          </a:prstGeom>
          <a:solidFill>
            <a:srgbClr val="02C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1078992" y="3904488"/>
            <a:ext cx="3566160" cy="34747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1300"/>
              <a:buFont typeface="Calibri"/>
              <a:buNone/>
            </a:pPr>
            <a:r>
              <a:rPr lang="en-US" sz="1300">
                <a:solidFill>
                  <a:schemeClr val="lt1"/>
                </a:solidFill>
                <a:latin typeface="Calibri"/>
                <a:ea typeface="Calibri"/>
                <a:cs typeface="Calibri"/>
                <a:sym typeface="Calibri"/>
              </a:rPr>
              <a:t>MD Arman Zaid Efty</a:t>
            </a:r>
            <a:endParaRPr sz="1300">
              <a:solidFill>
                <a:schemeClr val="dk1"/>
              </a:solidFill>
              <a:latin typeface="Calibri"/>
              <a:ea typeface="Calibri"/>
              <a:cs typeface="Calibri"/>
              <a:sym typeface="Calibri"/>
            </a:endParaRPr>
          </a:p>
        </p:txBody>
      </p:sp>
      <p:sp>
        <p:nvSpPr>
          <p:cNvPr id="27" name="Google Shape;27;p1"/>
          <p:cNvSpPr/>
          <p:nvPr/>
        </p:nvSpPr>
        <p:spPr>
          <a:xfrm>
            <a:off x="4846320" y="3968496"/>
            <a:ext cx="164592" cy="164592"/>
          </a:xfrm>
          <a:prstGeom prst="ellipse">
            <a:avLst/>
          </a:prstGeom>
          <a:solidFill>
            <a:srgbClr val="02C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5102352" y="3904488"/>
            <a:ext cx="356616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Muhammad Umar Hayat</a:t>
            </a:r>
            <a:endParaRPr b="0" i="0" sz="1300" u="none" cap="none" strike="noStrike">
              <a:solidFill>
                <a:schemeClr val="dk1"/>
              </a:solidFill>
              <a:latin typeface="Calibri"/>
              <a:ea typeface="Calibri"/>
              <a:cs typeface="Calibri"/>
              <a:sym typeface="Calibri"/>
            </a:endParaRPr>
          </a:p>
        </p:txBody>
      </p:sp>
      <p:sp>
        <p:nvSpPr>
          <p:cNvPr id="29" name="Google Shape;29;p1"/>
          <p:cNvSpPr/>
          <p:nvPr/>
        </p:nvSpPr>
        <p:spPr>
          <a:xfrm>
            <a:off x="548640" y="4754880"/>
            <a:ext cx="80467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99"/>
              </a:buClr>
              <a:buSzPts val="1000"/>
              <a:buFont typeface="Calibri"/>
              <a:buNone/>
            </a:pPr>
            <a:r>
              <a:rPr b="0" i="0" lang="en-US" sz="1000" u="none" cap="none" strike="noStrike">
                <a:solidFill>
                  <a:srgbClr val="5A7A99"/>
                </a:solidFill>
                <a:latin typeface="Calibri"/>
                <a:ea typeface="Calibri"/>
                <a:cs typeface="Calibri"/>
                <a:sym typeface="Calibri"/>
              </a:rPr>
              <a:t>Hardware Engineering Lab  •  HSHL  •  SS 2026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34" name="Shape 34"/>
        <p:cNvGrpSpPr/>
        <p:nvPr/>
      </p:nvGrpSpPr>
      <p:grpSpPr>
        <a:xfrm>
          <a:off x="0" y="0"/>
          <a:ext cx="0" cy="0"/>
          <a:chOff x="0" y="0"/>
          <a:chExt cx="0" cy="0"/>
        </a:xfrm>
      </p:grpSpPr>
      <p:sp>
        <p:nvSpPr>
          <p:cNvPr id="35" name="Google Shape;35;p2"/>
          <p:cNvSpPr/>
          <p:nvPr/>
        </p:nvSpPr>
        <p:spPr>
          <a:xfrm>
            <a:off x="548640" y="274320"/>
            <a:ext cx="80467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800"/>
              <a:buFont typeface="Cambria"/>
              <a:buNone/>
            </a:pPr>
            <a:r>
              <a:rPr b="1" i="0" lang="en-US" sz="2800" u="none" cap="none" strike="noStrike">
                <a:solidFill>
                  <a:srgbClr val="1B2A4A"/>
                </a:solidFill>
                <a:latin typeface="Cambria"/>
                <a:ea typeface="Cambria"/>
                <a:cs typeface="Cambria"/>
                <a:sym typeface="Cambria"/>
              </a:rPr>
              <a:t>What Is It?</a:t>
            </a:r>
            <a:endParaRPr b="0" i="0" sz="2800" u="none" cap="none" strike="noStrike">
              <a:solidFill>
                <a:schemeClr val="dk1"/>
              </a:solidFill>
              <a:latin typeface="Calibri"/>
              <a:ea typeface="Calibri"/>
              <a:cs typeface="Calibri"/>
              <a:sym typeface="Calibri"/>
            </a:endParaRPr>
          </a:p>
        </p:txBody>
      </p:sp>
      <p:sp>
        <p:nvSpPr>
          <p:cNvPr id="36" name="Google Shape;36;p2"/>
          <p:cNvSpPr/>
          <p:nvPr/>
        </p:nvSpPr>
        <p:spPr>
          <a:xfrm>
            <a:off x="548640" y="914400"/>
            <a:ext cx="80467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400"/>
              <a:buFont typeface="Calibri"/>
              <a:buNone/>
            </a:pPr>
            <a:r>
              <a:rPr b="0" i="0" lang="en-US" sz="1400" u="none" cap="none" strike="noStrike">
                <a:solidFill>
                  <a:srgbClr val="4A5568"/>
                </a:solidFill>
                <a:latin typeface="Calibri"/>
                <a:ea typeface="Calibri"/>
                <a:cs typeface="Calibri"/>
                <a:sym typeface="Calibri"/>
              </a:rPr>
              <a:t>A digital parking lot controller implemented entirely in VHDL on an FPGA </a:t>
            </a:r>
            <a:r>
              <a:rPr lang="en-US">
                <a:solidFill>
                  <a:srgbClr val="4A5568"/>
                </a:solidFill>
                <a:latin typeface="Calibri"/>
                <a:ea typeface="Calibri"/>
                <a:cs typeface="Calibri"/>
                <a:sym typeface="Calibri"/>
              </a:rPr>
              <a:t>-</a:t>
            </a:r>
            <a:r>
              <a:rPr b="0" i="0" lang="en-US" sz="1400" u="none" cap="none" strike="noStrike">
                <a:solidFill>
                  <a:srgbClr val="4A5568"/>
                </a:solidFill>
                <a:latin typeface="Calibri"/>
                <a:ea typeface="Calibri"/>
                <a:cs typeface="Calibri"/>
                <a:sym typeface="Calibri"/>
              </a:rPr>
              <a:t> no microcontroller, just programmable logic.</a:t>
            </a:r>
            <a:endParaRPr b="0" i="0" sz="1400" u="none" cap="none" strike="noStrike">
              <a:solidFill>
                <a:schemeClr val="dk1"/>
              </a:solidFill>
              <a:latin typeface="Calibri"/>
              <a:ea typeface="Calibri"/>
              <a:cs typeface="Calibri"/>
              <a:sym typeface="Calibri"/>
            </a:endParaRPr>
          </a:p>
        </p:txBody>
      </p:sp>
      <p:sp>
        <p:nvSpPr>
          <p:cNvPr id="37" name="Google Shape;37;p2"/>
          <p:cNvSpPr/>
          <p:nvPr/>
        </p:nvSpPr>
        <p:spPr>
          <a:xfrm>
            <a:off x="457200" y="1600200"/>
            <a:ext cx="2651760" cy="3108960"/>
          </a:xfrm>
          <a:prstGeom prst="roundRect">
            <a:avLst>
              <a:gd fmla="val 4138" name="adj"/>
            </a:avLst>
          </a:prstGeom>
          <a:solidFill>
            <a:srgbClr val="E8F4FD"/>
          </a:solidFill>
          <a:ln>
            <a:noFill/>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594360" y="1737360"/>
            <a:ext cx="23774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400"/>
              <a:buFont typeface="Cambria"/>
              <a:buNone/>
            </a:pPr>
            <a:r>
              <a:rPr b="1" i="0" lang="en-US" sz="1400" u="none" cap="none" strike="noStrike">
                <a:solidFill>
                  <a:srgbClr val="1B2A4A"/>
                </a:solidFill>
                <a:latin typeface="Cambria"/>
                <a:ea typeface="Cambria"/>
                <a:cs typeface="Cambria"/>
                <a:sym typeface="Cambria"/>
              </a:rPr>
              <a:t>Access Control</a:t>
            </a:r>
            <a:endParaRPr b="0" i="0" sz="1400" u="none" cap="none" strike="noStrike">
              <a:solidFill>
                <a:schemeClr val="dk1"/>
              </a:solidFill>
              <a:latin typeface="Calibri"/>
              <a:ea typeface="Calibri"/>
              <a:cs typeface="Calibri"/>
              <a:sym typeface="Calibri"/>
            </a:endParaRPr>
          </a:p>
        </p:txBody>
      </p:sp>
      <p:sp>
        <p:nvSpPr>
          <p:cNvPr id="39" name="Google Shape;39;p2"/>
          <p:cNvSpPr/>
          <p:nvPr/>
        </p:nvSpPr>
        <p:spPr>
          <a:xfrm>
            <a:off x="594360" y="2194560"/>
            <a:ext cx="2377440" cy="2286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b="0" i="0" lang="en-US" sz="1200" u="none" cap="none" strike="noStrike">
                <a:solidFill>
                  <a:srgbClr val="4A5568"/>
                </a:solidFill>
                <a:latin typeface="Calibri"/>
                <a:ea typeface="Calibri"/>
                <a:cs typeface="Calibri"/>
                <a:sym typeface="Calibri"/>
              </a:rPr>
              <a:t>Vehicles can only enter after supplying a correct 4-bit password via on-board switches. Wrong code → blocked.</a:t>
            </a:r>
            <a:endParaRPr b="0" i="0" sz="1200" u="none" cap="none" strike="noStrike">
              <a:solidFill>
                <a:schemeClr val="dk1"/>
              </a:solidFill>
              <a:latin typeface="Calibri"/>
              <a:ea typeface="Calibri"/>
              <a:cs typeface="Calibri"/>
              <a:sym typeface="Calibri"/>
            </a:endParaRPr>
          </a:p>
        </p:txBody>
      </p:sp>
      <p:sp>
        <p:nvSpPr>
          <p:cNvPr id="40" name="Google Shape;40;p2"/>
          <p:cNvSpPr/>
          <p:nvPr/>
        </p:nvSpPr>
        <p:spPr>
          <a:xfrm>
            <a:off x="3291840" y="1600200"/>
            <a:ext cx="2651760" cy="3108960"/>
          </a:xfrm>
          <a:prstGeom prst="roundRect">
            <a:avLst>
              <a:gd fmla="val 4138" name="adj"/>
            </a:avLst>
          </a:prstGeom>
          <a:solidFill>
            <a:srgbClr val="E8FDF4"/>
          </a:solidFill>
          <a:ln>
            <a:noFill/>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3429000" y="1737360"/>
            <a:ext cx="23774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400"/>
              <a:buFont typeface="Cambria"/>
              <a:buNone/>
            </a:pPr>
            <a:r>
              <a:rPr b="1" i="0" lang="en-US" sz="1400" u="none" cap="none" strike="noStrike">
                <a:solidFill>
                  <a:srgbClr val="1B2A4A"/>
                </a:solidFill>
                <a:latin typeface="Cambria"/>
                <a:ea typeface="Cambria"/>
                <a:cs typeface="Cambria"/>
                <a:sym typeface="Cambria"/>
              </a:rPr>
              <a:t>Occupancy Tracking</a:t>
            </a:r>
            <a:endParaRPr b="0" i="0" sz="1400" u="none" cap="none" strike="noStrike">
              <a:solidFill>
                <a:schemeClr val="dk1"/>
              </a:solidFill>
              <a:latin typeface="Calibri"/>
              <a:ea typeface="Calibri"/>
              <a:cs typeface="Calibri"/>
              <a:sym typeface="Calibri"/>
            </a:endParaRPr>
          </a:p>
        </p:txBody>
      </p:sp>
      <p:sp>
        <p:nvSpPr>
          <p:cNvPr id="42" name="Google Shape;42;p2"/>
          <p:cNvSpPr/>
          <p:nvPr/>
        </p:nvSpPr>
        <p:spPr>
          <a:xfrm>
            <a:off x="3429000" y="2194560"/>
            <a:ext cx="2377440" cy="2286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b="0" i="0" lang="en-US" sz="1200" u="none" cap="none" strike="noStrike">
                <a:solidFill>
                  <a:srgbClr val="4A5568"/>
                </a:solidFill>
                <a:latin typeface="Calibri"/>
                <a:ea typeface="Calibri"/>
                <a:cs typeface="Calibri"/>
                <a:sym typeface="Calibri"/>
              </a:rPr>
              <a:t>Maintains a real-time count of occupied vs. available spaces (max 15). Entry is blocked when the lot is full.</a:t>
            </a:r>
            <a:endParaRPr b="0" i="0" sz="1200" u="none" cap="none" strike="noStrike">
              <a:solidFill>
                <a:schemeClr val="dk1"/>
              </a:solidFill>
              <a:latin typeface="Calibri"/>
              <a:ea typeface="Calibri"/>
              <a:cs typeface="Calibri"/>
              <a:sym typeface="Calibri"/>
            </a:endParaRPr>
          </a:p>
        </p:txBody>
      </p:sp>
      <p:sp>
        <p:nvSpPr>
          <p:cNvPr id="43" name="Google Shape;43;p2"/>
          <p:cNvSpPr/>
          <p:nvPr/>
        </p:nvSpPr>
        <p:spPr>
          <a:xfrm>
            <a:off x="6126480" y="1600200"/>
            <a:ext cx="2651760" cy="3108960"/>
          </a:xfrm>
          <a:prstGeom prst="roundRect">
            <a:avLst>
              <a:gd fmla="val 4138" name="adj"/>
            </a:avLst>
          </a:prstGeom>
          <a:solidFill>
            <a:srgbClr val="FDF4E8"/>
          </a:solidFill>
          <a:ln>
            <a:noFill/>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6263640" y="1737360"/>
            <a:ext cx="23774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400"/>
              <a:buFont typeface="Cambria"/>
              <a:buNone/>
            </a:pPr>
            <a:r>
              <a:rPr b="1" i="0" lang="en-US" sz="1400" u="none" cap="none" strike="noStrike">
                <a:solidFill>
                  <a:srgbClr val="1B2A4A"/>
                </a:solidFill>
                <a:latin typeface="Cambria"/>
                <a:ea typeface="Cambria"/>
                <a:cs typeface="Cambria"/>
                <a:sym typeface="Cambria"/>
              </a:rPr>
              <a:t>Status Feedback</a:t>
            </a:r>
            <a:endParaRPr b="0" i="0" sz="1400" u="none" cap="none" strike="noStrike">
              <a:solidFill>
                <a:schemeClr val="dk1"/>
              </a:solidFill>
              <a:latin typeface="Calibri"/>
              <a:ea typeface="Calibri"/>
              <a:cs typeface="Calibri"/>
              <a:sym typeface="Calibri"/>
            </a:endParaRPr>
          </a:p>
        </p:txBody>
      </p:sp>
      <p:sp>
        <p:nvSpPr>
          <p:cNvPr id="45" name="Google Shape;45;p2"/>
          <p:cNvSpPr/>
          <p:nvPr/>
        </p:nvSpPr>
        <p:spPr>
          <a:xfrm>
            <a:off x="6263640" y="2194560"/>
            <a:ext cx="2377440" cy="2286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b="0" i="0" lang="en-US" sz="1200" u="none" cap="none" strike="noStrike">
                <a:solidFill>
                  <a:srgbClr val="4A5568"/>
                </a:solidFill>
                <a:latin typeface="Calibri"/>
                <a:ea typeface="Calibri"/>
                <a:cs typeface="Calibri"/>
                <a:sym typeface="Calibri"/>
              </a:rPr>
              <a:t>Free spaces shown on 7-segment display. LEDs indicate: space available, lot full, password accepted/rejected.</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sp>
        <p:nvSpPr>
          <p:cNvPr id="51" name="Google Shape;51;p3"/>
          <p:cNvSpPr/>
          <p:nvPr/>
        </p:nvSpPr>
        <p:spPr>
          <a:xfrm>
            <a:off x="548640" y="274320"/>
            <a:ext cx="80467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800"/>
              <a:buFont typeface="Cambria"/>
              <a:buNone/>
            </a:pPr>
            <a:r>
              <a:rPr b="1" i="0" lang="en-US" sz="2800" u="none" cap="none" strike="noStrike">
                <a:solidFill>
                  <a:srgbClr val="1B2A4A"/>
                </a:solidFill>
                <a:latin typeface="Cambria"/>
                <a:ea typeface="Cambria"/>
                <a:cs typeface="Cambria"/>
                <a:sym typeface="Cambria"/>
              </a:rPr>
              <a:t>System Architecture</a:t>
            </a:r>
            <a:endParaRPr b="0" i="0" sz="2800" u="none" cap="none" strike="noStrike">
              <a:solidFill>
                <a:schemeClr val="dk1"/>
              </a:solidFill>
              <a:latin typeface="Calibri"/>
              <a:ea typeface="Calibri"/>
              <a:cs typeface="Calibri"/>
              <a:sym typeface="Calibri"/>
            </a:endParaRPr>
          </a:p>
        </p:txBody>
      </p:sp>
      <p:pic>
        <p:nvPicPr>
          <p:cNvPr id="52" name="Google Shape;52;p3" title="PARKING SLOT.drawio.png"/>
          <p:cNvPicPr preferRelativeResize="0"/>
          <p:nvPr/>
        </p:nvPicPr>
        <p:blipFill>
          <a:blip r:embed="rId3">
            <a:alphaModFix/>
          </a:blip>
          <a:stretch>
            <a:fillRect/>
          </a:stretch>
        </p:blipFill>
        <p:spPr>
          <a:xfrm>
            <a:off x="804850" y="1334540"/>
            <a:ext cx="6830581" cy="3604260"/>
          </a:xfrm>
          <a:prstGeom prst="rect">
            <a:avLst/>
          </a:prstGeom>
          <a:noFill/>
          <a:ln>
            <a:noFill/>
          </a:ln>
        </p:spPr>
      </p:pic>
      <p:sp>
        <p:nvSpPr>
          <p:cNvPr id="53" name="Google Shape;53;p3"/>
          <p:cNvSpPr txBox="1"/>
          <p:nvPr/>
        </p:nvSpPr>
        <p:spPr>
          <a:xfrm>
            <a:off x="687250" y="841675"/>
            <a:ext cx="69483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4A5568"/>
              </a:buClr>
              <a:buSzPts val="1300"/>
              <a:buFont typeface="Calibri"/>
              <a:buNone/>
            </a:pPr>
            <a:r>
              <a:rPr lang="en-US" sz="1300">
                <a:solidFill>
                  <a:srgbClr val="4A5568"/>
                </a:solidFill>
                <a:latin typeface="Calibri"/>
                <a:ea typeface="Calibri"/>
                <a:cs typeface="Calibri"/>
                <a:sym typeface="Calibri"/>
              </a:rPr>
              <a:t>Two VHDL entities work together, a reusable debounce module and the top-level controller.</a:t>
            </a:r>
            <a:endParaRPr sz="13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58" name="Shape 58"/>
        <p:cNvGrpSpPr/>
        <p:nvPr/>
      </p:nvGrpSpPr>
      <p:grpSpPr>
        <a:xfrm>
          <a:off x="0" y="0"/>
          <a:ext cx="0" cy="0"/>
          <a:chOff x="0" y="0"/>
          <a:chExt cx="0" cy="0"/>
        </a:xfrm>
      </p:grpSpPr>
      <p:sp>
        <p:nvSpPr>
          <p:cNvPr id="59" name="Google Shape;59;p4"/>
          <p:cNvSpPr/>
          <p:nvPr/>
        </p:nvSpPr>
        <p:spPr>
          <a:xfrm>
            <a:off x="457200" y="137160"/>
            <a:ext cx="8229600"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VHDL Code </a:t>
            </a:r>
            <a:r>
              <a:rPr b="1" lang="en-US" sz="2600">
                <a:solidFill>
                  <a:srgbClr val="FFFFFF"/>
                </a:solidFill>
                <a:latin typeface="Cambria"/>
                <a:ea typeface="Cambria"/>
                <a:cs typeface="Cambria"/>
                <a:sym typeface="Cambria"/>
              </a:rPr>
              <a:t>- </a:t>
            </a:r>
            <a:r>
              <a:rPr b="1" i="0" lang="en-US" sz="2600" u="none" cap="none" strike="noStrike">
                <a:solidFill>
                  <a:srgbClr val="FFFFFF"/>
                </a:solidFill>
                <a:latin typeface="Cambria"/>
                <a:ea typeface="Cambria"/>
                <a:cs typeface="Cambria"/>
                <a:sym typeface="Cambria"/>
              </a:rPr>
              <a:t>Key Concepts</a:t>
            </a:r>
            <a:endParaRPr b="0" i="0" sz="2600" u="none" cap="none" strike="noStrike">
              <a:solidFill>
                <a:schemeClr val="dk1"/>
              </a:solidFill>
              <a:latin typeface="Calibri"/>
              <a:ea typeface="Calibri"/>
              <a:cs typeface="Calibri"/>
              <a:sym typeface="Calibri"/>
            </a:endParaRPr>
          </a:p>
        </p:txBody>
      </p:sp>
      <p:sp>
        <p:nvSpPr>
          <p:cNvPr id="60" name="Google Shape;60;p4"/>
          <p:cNvSpPr/>
          <p:nvPr/>
        </p:nvSpPr>
        <p:spPr>
          <a:xfrm>
            <a:off x="457200" y="557784"/>
            <a:ext cx="8229600"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FA6"/>
              </a:buClr>
              <a:buSzPts val="1100"/>
              <a:buFont typeface="Calibri"/>
              <a:buNone/>
            </a:pPr>
            <a:r>
              <a:rPr b="0" i="0" lang="en-US" sz="1100" u="none" cap="none" strike="noStrike">
                <a:solidFill>
                  <a:srgbClr val="7A8FA6"/>
                </a:solidFill>
                <a:latin typeface="Calibri"/>
                <a:ea typeface="Calibri"/>
                <a:cs typeface="Calibri"/>
                <a:sym typeface="Calibri"/>
              </a:rPr>
              <a:t>Three core logic blocks explained with annotations</a:t>
            </a:r>
            <a:endParaRPr b="0" i="0" sz="1100" u="none" cap="none" strike="noStrike">
              <a:solidFill>
                <a:schemeClr val="dk1"/>
              </a:solidFill>
              <a:latin typeface="Calibri"/>
              <a:ea typeface="Calibri"/>
              <a:cs typeface="Calibri"/>
              <a:sym typeface="Calibri"/>
            </a:endParaRPr>
          </a:p>
        </p:txBody>
      </p:sp>
      <p:sp>
        <p:nvSpPr>
          <p:cNvPr id="61" name="Google Shape;61;p4"/>
          <p:cNvSpPr/>
          <p:nvPr/>
        </p:nvSpPr>
        <p:spPr>
          <a:xfrm>
            <a:off x="274320" y="896112"/>
            <a:ext cx="1737360" cy="292608"/>
          </a:xfrm>
          <a:prstGeom prst="roundRect">
            <a:avLst>
              <a:gd fmla="val 25000" name="adj"/>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274320" y="896112"/>
            <a:ext cx="173736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① Password Check</a:t>
            </a:r>
            <a:endParaRPr b="0" i="0" sz="900" u="none" cap="none" strike="noStrike">
              <a:solidFill>
                <a:schemeClr val="dk1"/>
              </a:solidFill>
              <a:latin typeface="Calibri"/>
              <a:ea typeface="Calibri"/>
              <a:cs typeface="Calibri"/>
              <a:sym typeface="Calibri"/>
            </a:endParaRPr>
          </a:p>
        </p:txBody>
      </p:sp>
      <p:sp>
        <p:nvSpPr>
          <p:cNvPr id="63" name="Google Shape;63;p4"/>
          <p:cNvSpPr/>
          <p:nvPr/>
        </p:nvSpPr>
        <p:spPr>
          <a:xfrm>
            <a:off x="274320" y="1216152"/>
            <a:ext cx="3931920" cy="1389888"/>
          </a:xfrm>
          <a:prstGeom prst="roundRect">
            <a:avLst>
              <a:gd fmla="val 5263" name="adj"/>
            </a:avLst>
          </a:prstGeom>
          <a:solidFill>
            <a:srgbClr val="161B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384048" y="1252728"/>
            <a:ext cx="3749040" cy="12984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constant AUTHORIZED_CODE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  STD_LOGIC_VECTOR(3 downto 0) := "1010";</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elsif verify_p = '1' then</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  if SW = AUTHORIZED_CODE then</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    pw_ok &lt;= '1';   -- grant access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  else</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    pw_ok &lt;= '0';   -- block entry</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  end if;</a:t>
            </a:r>
            <a:endParaRPr b="0" i="0" sz="900" u="none" cap="none" strike="noStrike">
              <a:solidFill>
                <a:schemeClr val="dk1"/>
              </a:solidFill>
              <a:latin typeface="Calibri"/>
              <a:ea typeface="Calibri"/>
              <a:cs typeface="Calibri"/>
              <a:sym typeface="Calibri"/>
            </a:endParaRPr>
          </a:p>
        </p:txBody>
      </p:sp>
      <p:sp>
        <p:nvSpPr>
          <p:cNvPr id="65" name="Google Shape;65;p4"/>
          <p:cNvSpPr/>
          <p:nvPr/>
        </p:nvSpPr>
        <p:spPr>
          <a:xfrm>
            <a:off x="274320" y="2651760"/>
            <a:ext cx="3931920" cy="713232"/>
          </a:xfrm>
          <a:prstGeom prst="roundRect">
            <a:avLst>
              <a:gd fmla="val 10256" name="adj"/>
            </a:avLst>
          </a:prstGeom>
          <a:solidFill>
            <a:srgbClr val="1C2E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p:nvPr/>
        </p:nvSpPr>
        <p:spPr>
          <a:xfrm>
            <a:off x="384048" y="2688336"/>
            <a:ext cx="374904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C4D8"/>
              </a:buClr>
              <a:buSzPts val="950"/>
              <a:buFont typeface="Calibri"/>
              <a:buNone/>
            </a:pPr>
            <a:r>
              <a:rPr b="0" i="0" lang="en-US" sz="950" u="none" cap="none" strike="noStrike">
                <a:solidFill>
                  <a:srgbClr val="A8C4D8"/>
                </a:solidFill>
                <a:latin typeface="Calibri"/>
                <a:ea typeface="Calibri"/>
                <a:cs typeface="Calibri"/>
                <a:sym typeface="Calibri"/>
              </a:rPr>
              <a:t>💡  The 4-bit switch vector SW[3:0] is compared directly against the hardcoded constant "1010". On BTNL press, pw_ok is set high or low in one clock cycle.</a:t>
            </a:r>
            <a:endParaRPr b="0" i="0" sz="950" u="none" cap="none" strike="noStrike">
              <a:solidFill>
                <a:schemeClr val="dk1"/>
              </a:solidFill>
              <a:latin typeface="Calibri"/>
              <a:ea typeface="Calibri"/>
              <a:cs typeface="Calibri"/>
              <a:sym typeface="Calibri"/>
            </a:endParaRPr>
          </a:p>
        </p:txBody>
      </p:sp>
      <p:sp>
        <p:nvSpPr>
          <p:cNvPr id="67" name="Google Shape;67;p4"/>
          <p:cNvSpPr/>
          <p:nvPr/>
        </p:nvSpPr>
        <p:spPr>
          <a:xfrm>
            <a:off x="4434840" y="896112"/>
            <a:ext cx="1828800" cy="292608"/>
          </a:xfrm>
          <a:prstGeom prst="roundRect">
            <a:avLst>
              <a:gd fmla="val 25000" name="adj"/>
            </a:avLst>
          </a:prstGeom>
          <a:solidFill>
            <a:srgbClr val="02C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4434840" y="896112"/>
            <a:ext cx="182880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900"/>
              <a:buFont typeface="Calibri"/>
              <a:buNone/>
            </a:pPr>
            <a:r>
              <a:rPr b="1" i="0" lang="en-US" sz="900" u="none" cap="none" strike="noStrike">
                <a:solidFill>
                  <a:srgbClr val="1B2A4A"/>
                </a:solidFill>
                <a:latin typeface="Calibri"/>
                <a:ea typeface="Calibri"/>
                <a:cs typeface="Calibri"/>
                <a:sym typeface="Calibri"/>
              </a:rPr>
              <a:t>② Entry / Exit Counter</a:t>
            </a:r>
            <a:endParaRPr b="0" i="0" sz="900" u="none" cap="none" strike="noStrike">
              <a:solidFill>
                <a:schemeClr val="dk1"/>
              </a:solidFill>
              <a:latin typeface="Calibri"/>
              <a:ea typeface="Calibri"/>
              <a:cs typeface="Calibri"/>
              <a:sym typeface="Calibri"/>
            </a:endParaRPr>
          </a:p>
        </p:txBody>
      </p:sp>
      <p:sp>
        <p:nvSpPr>
          <p:cNvPr id="69" name="Google Shape;69;p4"/>
          <p:cNvSpPr/>
          <p:nvPr/>
        </p:nvSpPr>
        <p:spPr>
          <a:xfrm>
            <a:off x="4434840" y="1216152"/>
            <a:ext cx="4069080" cy="1389888"/>
          </a:xfrm>
          <a:prstGeom prst="roundRect">
            <a:avLst>
              <a:gd fmla="val 5263" name="adj"/>
            </a:avLst>
          </a:prstGeom>
          <a:solidFill>
            <a:srgbClr val="161B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4544568" y="1252728"/>
            <a:ext cx="3840480" cy="12984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if entry_p='1' and pw_ok='1'</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   and occupied &lt; 15 then</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  occupied &lt;= occupied + 1;</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elsif exit_p='1'</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   and occupied &gt; 0 then</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  occupied &lt;= occupied - 1;</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end if;</a:t>
            </a:r>
            <a:endParaRPr b="0" i="0" sz="900" u="none" cap="none" strike="noStrike">
              <a:solidFill>
                <a:schemeClr val="dk1"/>
              </a:solidFill>
              <a:latin typeface="Calibri"/>
              <a:ea typeface="Calibri"/>
              <a:cs typeface="Calibri"/>
              <a:sym typeface="Calibri"/>
            </a:endParaRPr>
          </a:p>
        </p:txBody>
      </p:sp>
      <p:sp>
        <p:nvSpPr>
          <p:cNvPr id="71" name="Google Shape;71;p4"/>
          <p:cNvSpPr/>
          <p:nvPr/>
        </p:nvSpPr>
        <p:spPr>
          <a:xfrm>
            <a:off x="4434840" y="2651760"/>
            <a:ext cx="4069080" cy="566928"/>
          </a:xfrm>
          <a:prstGeom prst="roundRect">
            <a:avLst>
              <a:gd fmla="val 12903" name="adj"/>
            </a:avLst>
          </a:prstGeom>
          <a:solidFill>
            <a:srgbClr val="1C2E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a:off x="4544568" y="2679192"/>
            <a:ext cx="3840480" cy="5120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C4D8"/>
              </a:buClr>
              <a:buSzPts val="900"/>
              <a:buFont typeface="Calibri"/>
              <a:buNone/>
            </a:pPr>
            <a:r>
              <a:rPr b="0" i="0" lang="en-US" sz="900" u="none" cap="none" strike="noStrike">
                <a:solidFill>
                  <a:srgbClr val="A8C4D8"/>
                </a:solidFill>
                <a:latin typeface="Calibri"/>
                <a:ea typeface="Calibri"/>
                <a:cs typeface="Calibri"/>
                <a:sym typeface="Calibri"/>
              </a:rPr>
              <a:t>💡  Entry needs pw_ok='1' AND occupied&lt;15. Exit saturates at 0, never underflows. Max: 15 spaces.</a:t>
            </a:r>
            <a:endParaRPr b="0" i="0" sz="900" u="none" cap="none" strike="noStrike">
              <a:solidFill>
                <a:schemeClr val="dk1"/>
              </a:solidFill>
              <a:latin typeface="Calibri"/>
              <a:ea typeface="Calibri"/>
              <a:cs typeface="Calibri"/>
              <a:sym typeface="Calibri"/>
            </a:endParaRPr>
          </a:p>
        </p:txBody>
      </p:sp>
      <p:sp>
        <p:nvSpPr>
          <p:cNvPr id="73" name="Google Shape;73;p4"/>
          <p:cNvSpPr/>
          <p:nvPr/>
        </p:nvSpPr>
        <p:spPr>
          <a:xfrm>
            <a:off x="274320" y="3493008"/>
            <a:ext cx="1691640" cy="292608"/>
          </a:xfrm>
          <a:prstGeom prst="roundRect">
            <a:avLst>
              <a:gd fmla="val 25000" name="adj"/>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274320" y="3493008"/>
            <a:ext cx="169164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B2A4A"/>
              </a:buClr>
              <a:buSzPts val="900"/>
              <a:buFont typeface="Calibri"/>
              <a:buNone/>
            </a:pPr>
            <a:r>
              <a:rPr b="1" i="0" lang="en-US" sz="900" u="none" cap="none" strike="noStrike">
                <a:solidFill>
                  <a:srgbClr val="1B2A4A"/>
                </a:solidFill>
                <a:latin typeface="Calibri"/>
                <a:ea typeface="Calibri"/>
                <a:cs typeface="Calibri"/>
                <a:sym typeface="Calibri"/>
              </a:rPr>
              <a:t>③ Debounce Entity</a:t>
            </a:r>
            <a:endParaRPr b="0" i="0" sz="900" u="none" cap="none" strike="noStrike">
              <a:solidFill>
                <a:schemeClr val="dk1"/>
              </a:solidFill>
              <a:latin typeface="Calibri"/>
              <a:ea typeface="Calibri"/>
              <a:cs typeface="Calibri"/>
              <a:sym typeface="Calibri"/>
            </a:endParaRPr>
          </a:p>
        </p:txBody>
      </p:sp>
      <p:sp>
        <p:nvSpPr>
          <p:cNvPr id="75" name="Google Shape;75;p4"/>
          <p:cNvSpPr/>
          <p:nvPr/>
        </p:nvSpPr>
        <p:spPr>
          <a:xfrm>
            <a:off x="274320" y="3813048"/>
            <a:ext cx="8229600" cy="1188720"/>
          </a:xfrm>
          <a:prstGeom prst="roundRect">
            <a:avLst>
              <a:gd fmla="val 6154" name="adj"/>
            </a:avLst>
          </a:prstGeom>
          <a:solidFill>
            <a:srgbClr val="161B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384048" y="3840480"/>
            <a:ext cx="7955280" cy="11155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entity debounce_pulse is</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  generic ( STABLE_COUNT : natural := 2000000 );   -- 20 ms at 100 MHz</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  Port ( clk : in STD_LOGIC;  btn_in : in STD_LOGIC;  pulse : out STD_LOGIC );</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end debounce_pulse;</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D8E8"/>
              </a:buClr>
              <a:buSzPts val="900"/>
              <a:buFont typeface="Courier New"/>
              <a:buNone/>
            </a:pPr>
            <a:r>
              <a:rPr b="0" i="0" lang="en-US" sz="900" u="none" cap="none" strike="noStrike">
                <a:solidFill>
                  <a:srgbClr val="C8D8E8"/>
                </a:solidFill>
                <a:latin typeface="Courier New"/>
                <a:ea typeface="Courier New"/>
                <a:cs typeface="Courier New"/>
                <a:sym typeface="Courier New"/>
              </a:rPr>
              <a:t>-- Instantiated ×4: one per button (BTNU, BTND, BTNC, BTNL)</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81" name="Shape 81"/>
        <p:cNvGrpSpPr/>
        <p:nvPr/>
      </p:nvGrpSpPr>
      <p:grpSpPr>
        <a:xfrm>
          <a:off x="0" y="0"/>
          <a:ext cx="0" cy="0"/>
          <a:chOff x="0" y="0"/>
          <a:chExt cx="0" cy="0"/>
        </a:xfrm>
      </p:grpSpPr>
      <p:sp>
        <p:nvSpPr>
          <p:cNvPr id="82" name="Google Shape;82;p6"/>
          <p:cNvSpPr/>
          <p:nvPr/>
        </p:nvSpPr>
        <p:spPr>
          <a:xfrm>
            <a:off x="548640" y="274320"/>
            <a:ext cx="80467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800"/>
              <a:buFont typeface="Cambria"/>
              <a:buNone/>
            </a:pPr>
            <a:r>
              <a:rPr b="1" i="0" lang="en-US" sz="2800" u="none" cap="none" strike="noStrike">
                <a:solidFill>
                  <a:srgbClr val="1B2A4A"/>
                </a:solidFill>
                <a:latin typeface="Cambria"/>
                <a:ea typeface="Cambria"/>
                <a:cs typeface="Cambria"/>
                <a:sym typeface="Cambria"/>
              </a:rPr>
              <a:t>How Entry Works</a:t>
            </a:r>
            <a:endParaRPr b="0" i="0" sz="2800" u="none" cap="none" strike="noStrike">
              <a:solidFill>
                <a:schemeClr val="dk1"/>
              </a:solidFill>
              <a:latin typeface="Calibri"/>
              <a:ea typeface="Calibri"/>
              <a:cs typeface="Calibri"/>
              <a:sym typeface="Calibri"/>
            </a:endParaRPr>
          </a:p>
        </p:txBody>
      </p:sp>
      <p:sp>
        <p:nvSpPr>
          <p:cNvPr id="83" name="Google Shape;83;p6"/>
          <p:cNvSpPr/>
          <p:nvPr/>
        </p:nvSpPr>
        <p:spPr>
          <a:xfrm>
            <a:off x="548640" y="868680"/>
            <a:ext cx="80467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300"/>
              <a:buFont typeface="Calibri"/>
              <a:buNone/>
            </a:pPr>
            <a:r>
              <a:rPr b="0" i="0" lang="en-US" sz="1300" u="none" cap="none" strike="noStrike">
                <a:solidFill>
                  <a:srgbClr val="4A5568"/>
                </a:solidFill>
                <a:latin typeface="Calibri"/>
                <a:ea typeface="Calibri"/>
                <a:cs typeface="Calibri"/>
                <a:sym typeface="Calibri"/>
              </a:rPr>
              <a:t>Step-by-step flow a vehicle follows to enter the parking lot:</a:t>
            </a:r>
            <a:endParaRPr b="0" i="0" sz="1300" u="none" cap="none" strike="noStrike">
              <a:solidFill>
                <a:schemeClr val="dk1"/>
              </a:solidFill>
              <a:latin typeface="Calibri"/>
              <a:ea typeface="Calibri"/>
              <a:cs typeface="Calibri"/>
              <a:sym typeface="Calibri"/>
            </a:endParaRPr>
          </a:p>
        </p:txBody>
      </p:sp>
      <p:sp>
        <p:nvSpPr>
          <p:cNvPr id="84" name="Google Shape;84;p6"/>
          <p:cNvSpPr/>
          <p:nvPr/>
        </p:nvSpPr>
        <p:spPr>
          <a:xfrm>
            <a:off x="457200" y="1325880"/>
            <a:ext cx="4114800" cy="1600200"/>
          </a:xfrm>
          <a:prstGeom prst="roundRect">
            <a:avLst>
              <a:gd fmla="val 6857" name="adj"/>
            </a:avLst>
          </a:prstGeom>
          <a:solidFill>
            <a:srgbClr val="EBF5FF"/>
          </a:solidFill>
          <a:ln>
            <a:noFill/>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594360" y="1463040"/>
            <a:ext cx="411480" cy="41148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594360" y="146304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1</a:t>
            </a:r>
            <a:endParaRPr b="0" i="0" sz="1300" u="none" cap="none" strike="noStrike">
              <a:solidFill>
                <a:schemeClr val="dk1"/>
              </a:solidFill>
              <a:latin typeface="Calibri"/>
              <a:ea typeface="Calibri"/>
              <a:cs typeface="Calibri"/>
              <a:sym typeface="Calibri"/>
            </a:endParaRPr>
          </a:p>
        </p:txBody>
      </p:sp>
      <p:sp>
        <p:nvSpPr>
          <p:cNvPr id="87" name="Google Shape;87;p6"/>
          <p:cNvSpPr/>
          <p:nvPr/>
        </p:nvSpPr>
        <p:spPr>
          <a:xfrm>
            <a:off x="1097280" y="1435608"/>
            <a:ext cx="333756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ambria"/>
              <a:buNone/>
            </a:pPr>
            <a:r>
              <a:rPr b="1" i="0" lang="en-US" sz="1300" u="none" cap="none" strike="noStrike">
                <a:solidFill>
                  <a:srgbClr val="1B2A4A"/>
                </a:solidFill>
                <a:latin typeface="Cambria"/>
                <a:ea typeface="Cambria"/>
                <a:cs typeface="Cambria"/>
                <a:sym typeface="Cambria"/>
              </a:rPr>
              <a:t>Set Password</a:t>
            </a:r>
            <a:endParaRPr b="0" i="0" sz="1300" u="none" cap="none" strike="noStrike">
              <a:solidFill>
                <a:schemeClr val="dk1"/>
              </a:solidFill>
              <a:latin typeface="Calibri"/>
              <a:ea typeface="Calibri"/>
              <a:cs typeface="Calibri"/>
              <a:sym typeface="Calibri"/>
            </a:endParaRPr>
          </a:p>
        </p:txBody>
      </p:sp>
      <p:sp>
        <p:nvSpPr>
          <p:cNvPr id="88" name="Google Shape;88;p6"/>
          <p:cNvSpPr/>
          <p:nvPr/>
        </p:nvSpPr>
        <p:spPr>
          <a:xfrm>
            <a:off x="594360" y="1828800"/>
            <a:ext cx="384048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User sets SW[3:0] to the 4-bit code.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Authorized code: SW3=1, SW2=0, SW1=1, SW0=0  (1010)</a:t>
            </a:r>
            <a:endParaRPr b="0" i="0" sz="1100" u="none" cap="none" strike="noStrike">
              <a:solidFill>
                <a:schemeClr val="dk1"/>
              </a:solidFill>
              <a:latin typeface="Calibri"/>
              <a:ea typeface="Calibri"/>
              <a:cs typeface="Calibri"/>
              <a:sym typeface="Calibri"/>
            </a:endParaRPr>
          </a:p>
        </p:txBody>
      </p:sp>
      <p:sp>
        <p:nvSpPr>
          <p:cNvPr id="89" name="Google Shape;89;p6"/>
          <p:cNvSpPr/>
          <p:nvPr/>
        </p:nvSpPr>
        <p:spPr>
          <a:xfrm>
            <a:off x="4846320" y="1325880"/>
            <a:ext cx="4114800" cy="1600200"/>
          </a:xfrm>
          <a:prstGeom prst="roundRect">
            <a:avLst>
              <a:gd fmla="val 6857" name="adj"/>
            </a:avLst>
          </a:prstGeom>
          <a:solidFill>
            <a:srgbClr val="E8FDF4"/>
          </a:solidFill>
          <a:ln>
            <a:noFill/>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4983480" y="1463040"/>
            <a:ext cx="411480" cy="41148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4983480" y="146304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2</a:t>
            </a:r>
            <a:endParaRPr b="0" i="0" sz="1300" u="none" cap="none" strike="noStrike">
              <a:solidFill>
                <a:schemeClr val="dk1"/>
              </a:solidFill>
              <a:latin typeface="Calibri"/>
              <a:ea typeface="Calibri"/>
              <a:cs typeface="Calibri"/>
              <a:sym typeface="Calibri"/>
            </a:endParaRPr>
          </a:p>
        </p:txBody>
      </p:sp>
      <p:sp>
        <p:nvSpPr>
          <p:cNvPr id="92" name="Google Shape;92;p6"/>
          <p:cNvSpPr/>
          <p:nvPr/>
        </p:nvSpPr>
        <p:spPr>
          <a:xfrm>
            <a:off x="5486400" y="1435608"/>
            <a:ext cx="333756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ambria"/>
              <a:buNone/>
            </a:pPr>
            <a:r>
              <a:rPr b="1" i="0" lang="en-US" sz="1300" u="none" cap="none" strike="noStrike">
                <a:solidFill>
                  <a:srgbClr val="1B2A4A"/>
                </a:solidFill>
                <a:latin typeface="Cambria"/>
                <a:ea typeface="Cambria"/>
                <a:cs typeface="Cambria"/>
                <a:sym typeface="Cambria"/>
              </a:rPr>
              <a:t>Press BTNL (Verify)</a:t>
            </a:r>
            <a:endParaRPr b="0" i="0" sz="1300" u="none" cap="none" strike="noStrike">
              <a:solidFill>
                <a:schemeClr val="dk1"/>
              </a:solidFill>
              <a:latin typeface="Calibri"/>
              <a:ea typeface="Calibri"/>
              <a:cs typeface="Calibri"/>
              <a:sym typeface="Calibri"/>
            </a:endParaRPr>
          </a:p>
        </p:txBody>
      </p:sp>
      <p:sp>
        <p:nvSpPr>
          <p:cNvPr id="93" name="Google Shape;93;p6"/>
          <p:cNvSpPr/>
          <p:nvPr/>
        </p:nvSpPr>
        <p:spPr>
          <a:xfrm>
            <a:off x="4983480" y="1828800"/>
            <a:ext cx="384048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Controller compares switch vector against the stored constant. Match → display shows  A  (Accepted).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No match → display shows  E  (Error).</a:t>
            </a:r>
            <a:endParaRPr b="0" i="0" sz="1100" u="none" cap="none" strike="noStrike">
              <a:solidFill>
                <a:schemeClr val="dk1"/>
              </a:solidFill>
              <a:latin typeface="Calibri"/>
              <a:ea typeface="Calibri"/>
              <a:cs typeface="Calibri"/>
              <a:sym typeface="Calibri"/>
            </a:endParaRPr>
          </a:p>
        </p:txBody>
      </p:sp>
      <p:sp>
        <p:nvSpPr>
          <p:cNvPr id="94" name="Google Shape;94;p6"/>
          <p:cNvSpPr/>
          <p:nvPr/>
        </p:nvSpPr>
        <p:spPr>
          <a:xfrm>
            <a:off x="457200" y="3154680"/>
            <a:ext cx="4114800" cy="1600200"/>
          </a:xfrm>
          <a:prstGeom prst="roundRect">
            <a:avLst>
              <a:gd fmla="val 6857" name="adj"/>
            </a:avLst>
          </a:prstGeom>
          <a:solidFill>
            <a:srgbClr val="FDF4E8"/>
          </a:solidFill>
          <a:ln>
            <a:noFill/>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594360" y="3291840"/>
            <a:ext cx="411480" cy="41148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594360" y="329184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3</a:t>
            </a:r>
            <a:endParaRPr b="0" i="0" sz="1300" u="none" cap="none" strike="noStrike">
              <a:solidFill>
                <a:schemeClr val="dk1"/>
              </a:solidFill>
              <a:latin typeface="Calibri"/>
              <a:ea typeface="Calibri"/>
              <a:cs typeface="Calibri"/>
              <a:sym typeface="Calibri"/>
            </a:endParaRPr>
          </a:p>
        </p:txBody>
      </p:sp>
      <p:sp>
        <p:nvSpPr>
          <p:cNvPr id="97" name="Google Shape;97;p6"/>
          <p:cNvSpPr/>
          <p:nvPr/>
        </p:nvSpPr>
        <p:spPr>
          <a:xfrm>
            <a:off x="1097280" y="3264408"/>
            <a:ext cx="333756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ambria"/>
              <a:buNone/>
            </a:pPr>
            <a:r>
              <a:rPr b="1" i="0" lang="en-US" sz="1300" u="none" cap="none" strike="noStrike">
                <a:solidFill>
                  <a:srgbClr val="1B2A4A"/>
                </a:solidFill>
                <a:latin typeface="Cambria"/>
                <a:ea typeface="Cambria"/>
                <a:cs typeface="Cambria"/>
                <a:sym typeface="Cambria"/>
              </a:rPr>
              <a:t>Press BTNU (Entry)</a:t>
            </a:r>
            <a:endParaRPr b="0" i="0" sz="1300" u="none" cap="none" strike="noStrike">
              <a:solidFill>
                <a:schemeClr val="dk1"/>
              </a:solidFill>
              <a:latin typeface="Calibri"/>
              <a:ea typeface="Calibri"/>
              <a:cs typeface="Calibri"/>
              <a:sym typeface="Calibri"/>
            </a:endParaRPr>
          </a:p>
        </p:txBody>
      </p:sp>
      <p:sp>
        <p:nvSpPr>
          <p:cNvPr id="98" name="Google Shape;98;p6"/>
          <p:cNvSpPr/>
          <p:nvPr/>
        </p:nvSpPr>
        <p:spPr>
          <a:xfrm>
            <a:off x="594360" y="3657600"/>
            <a:ext cx="384048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Only if password was accepted AND lot is not full: occupancy counter increments by 1. Available spaces on display decreases.</a:t>
            </a:r>
            <a:endParaRPr b="0" i="0" sz="1100" u="none" cap="none" strike="noStrike">
              <a:solidFill>
                <a:schemeClr val="dk1"/>
              </a:solidFill>
              <a:latin typeface="Calibri"/>
              <a:ea typeface="Calibri"/>
              <a:cs typeface="Calibri"/>
              <a:sym typeface="Calibri"/>
            </a:endParaRPr>
          </a:p>
        </p:txBody>
      </p:sp>
      <p:sp>
        <p:nvSpPr>
          <p:cNvPr id="99" name="Google Shape;99;p6"/>
          <p:cNvSpPr/>
          <p:nvPr/>
        </p:nvSpPr>
        <p:spPr>
          <a:xfrm>
            <a:off x="4846320" y="3154680"/>
            <a:ext cx="4114800" cy="1600200"/>
          </a:xfrm>
          <a:prstGeom prst="roundRect">
            <a:avLst>
              <a:gd fmla="val 6857" name="adj"/>
            </a:avLst>
          </a:prstGeom>
          <a:solidFill>
            <a:srgbClr val="F3E5F5"/>
          </a:solidFill>
          <a:ln>
            <a:noFill/>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4983480" y="3291840"/>
            <a:ext cx="411480" cy="41148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4983480" y="329184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4</a:t>
            </a:r>
            <a:endParaRPr b="0" i="0" sz="1300" u="none" cap="none" strike="noStrike">
              <a:solidFill>
                <a:schemeClr val="dk1"/>
              </a:solidFill>
              <a:latin typeface="Calibri"/>
              <a:ea typeface="Calibri"/>
              <a:cs typeface="Calibri"/>
              <a:sym typeface="Calibri"/>
            </a:endParaRPr>
          </a:p>
        </p:txBody>
      </p:sp>
      <p:sp>
        <p:nvSpPr>
          <p:cNvPr id="102" name="Google Shape;102;p6"/>
          <p:cNvSpPr/>
          <p:nvPr/>
        </p:nvSpPr>
        <p:spPr>
          <a:xfrm>
            <a:off x="5486400" y="3264408"/>
            <a:ext cx="333756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ambria"/>
              <a:buNone/>
            </a:pPr>
            <a:r>
              <a:rPr b="1" i="0" lang="en-US" sz="1300" u="none" cap="none" strike="noStrike">
                <a:solidFill>
                  <a:srgbClr val="1B2A4A"/>
                </a:solidFill>
                <a:latin typeface="Cambria"/>
                <a:ea typeface="Cambria"/>
                <a:cs typeface="Cambria"/>
                <a:sym typeface="Cambria"/>
              </a:rPr>
              <a:t>Press BTND (Exit)</a:t>
            </a:r>
            <a:endParaRPr b="0" i="0" sz="1300" u="none" cap="none" strike="noStrike">
              <a:solidFill>
                <a:schemeClr val="dk1"/>
              </a:solidFill>
              <a:latin typeface="Calibri"/>
              <a:ea typeface="Calibri"/>
              <a:cs typeface="Calibri"/>
              <a:sym typeface="Calibri"/>
            </a:endParaRPr>
          </a:p>
        </p:txBody>
      </p:sp>
      <p:sp>
        <p:nvSpPr>
          <p:cNvPr id="103" name="Google Shape;103;p6"/>
          <p:cNvSpPr/>
          <p:nvPr/>
        </p:nvSpPr>
        <p:spPr>
          <a:xfrm>
            <a:off x="4983480" y="3657600"/>
            <a:ext cx="384048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Any vehicle may exit freely. Counter decrements, saturating at 0. No password needed for exit.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p7"/>
          <p:cNvSpPr/>
          <p:nvPr/>
        </p:nvSpPr>
        <p:spPr>
          <a:xfrm>
            <a:off x="548640" y="274320"/>
            <a:ext cx="80467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800"/>
              <a:buFont typeface="Cambria"/>
              <a:buNone/>
            </a:pPr>
            <a:r>
              <a:rPr b="1" i="0" lang="en-US" sz="2800" u="none" cap="none" strike="noStrike">
                <a:solidFill>
                  <a:srgbClr val="1B2A4A"/>
                </a:solidFill>
                <a:latin typeface="Cambria"/>
                <a:ea typeface="Cambria"/>
                <a:cs typeface="Cambria"/>
                <a:sym typeface="Cambria"/>
              </a:rPr>
              <a:t>Outputs at a Glance</a:t>
            </a:r>
            <a:endParaRPr b="0" i="0" sz="2800" u="none" cap="none" strike="noStrike">
              <a:solidFill>
                <a:schemeClr val="dk1"/>
              </a:solidFill>
              <a:latin typeface="Calibri"/>
              <a:ea typeface="Calibri"/>
              <a:cs typeface="Calibri"/>
              <a:sym typeface="Calibri"/>
            </a:endParaRPr>
          </a:p>
        </p:txBody>
      </p:sp>
      <p:sp>
        <p:nvSpPr>
          <p:cNvPr id="110" name="Google Shape;110;p7"/>
          <p:cNvSpPr/>
          <p:nvPr/>
        </p:nvSpPr>
        <p:spPr>
          <a:xfrm>
            <a:off x="457200" y="1005840"/>
            <a:ext cx="3931920" cy="3657600"/>
          </a:xfrm>
          <a:prstGeom prst="roundRect">
            <a:avLst>
              <a:gd fmla="val 3000" name="adj"/>
            </a:avLst>
          </a:prstGeom>
          <a:solidFill>
            <a:srgbClr val="F0F4FF"/>
          </a:solidFill>
          <a:ln>
            <a:noFill/>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594360" y="1097280"/>
            <a:ext cx="3657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400"/>
              <a:buFont typeface="Cambria"/>
              <a:buNone/>
            </a:pPr>
            <a:r>
              <a:rPr b="1" i="0" lang="en-US" sz="1400" u="none" cap="none" strike="noStrike">
                <a:solidFill>
                  <a:srgbClr val="1B2A4A"/>
                </a:solidFill>
                <a:latin typeface="Cambria"/>
                <a:ea typeface="Cambria"/>
                <a:cs typeface="Cambria"/>
                <a:sym typeface="Cambria"/>
              </a:rPr>
              <a:t>Seven-Segment Display</a:t>
            </a:r>
            <a:endParaRPr b="0" i="0" sz="1400" u="none" cap="none" strike="noStrike">
              <a:solidFill>
                <a:schemeClr val="dk1"/>
              </a:solidFill>
              <a:latin typeface="Calibri"/>
              <a:ea typeface="Calibri"/>
              <a:cs typeface="Calibri"/>
              <a:sym typeface="Calibri"/>
            </a:endParaRPr>
          </a:p>
        </p:txBody>
      </p:sp>
      <p:sp>
        <p:nvSpPr>
          <p:cNvPr id="112" name="Google Shape;112;p7"/>
          <p:cNvSpPr/>
          <p:nvPr/>
        </p:nvSpPr>
        <p:spPr>
          <a:xfrm>
            <a:off x="594360" y="1572768"/>
            <a:ext cx="3657600" cy="594360"/>
          </a:xfrm>
          <a:prstGeom prst="roundRect">
            <a:avLst>
              <a:gd fmla="val 10769" name="adj"/>
            </a:avLst>
          </a:prstGeom>
          <a:solidFill>
            <a:srgbClr val="FFFFFF"/>
          </a:solidFill>
          <a:ln>
            <a:noFill/>
          </a:ln>
          <a:effectLst>
            <a:outerShdw blurRad="50800" rotWithShape="0" algn="bl" dir="27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7"/>
          <p:cNvSpPr/>
          <p:nvPr/>
        </p:nvSpPr>
        <p:spPr>
          <a:xfrm>
            <a:off x="731520" y="1600200"/>
            <a:ext cx="1463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88"/>
              </a:buClr>
              <a:buSzPts val="900"/>
              <a:buFont typeface="Calibri"/>
              <a:buNone/>
            </a:pPr>
            <a:r>
              <a:rPr b="0" i="1" lang="en-US" sz="900" u="none" cap="none" strike="noStrike">
                <a:solidFill>
                  <a:srgbClr val="888888"/>
                </a:solidFill>
                <a:latin typeface="Calibri"/>
                <a:ea typeface="Calibri"/>
                <a:cs typeface="Calibri"/>
                <a:sym typeface="Calibri"/>
              </a:rPr>
              <a:t>AN7 (leftmost)</a:t>
            </a:r>
            <a:endParaRPr b="0" i="0" sz="900" u="none" cap="none" strike="noStrike">
              <a:solidFill>
                <a:schemeClr val="dk1"/>
              </a:solidFill>
              <a:latin typeface="Calibri"/>
              <a:ea typeface="Calibri"/>
              <a:cs typeface="Calibri"/>
              <a:sym typeface="Calibri"/>
            </a:endParaRPr>
          </a:p>
        </p:txBody>
      </p:sp>
      <p:sp>
        <p:nvSpPr>
          <p:cNvPr id="114" name="Google Shape;114;p7"/>
          <p:cNvSpPr/>
          <p:nvPr/>
        </p:nvSpPr>
        <p:spPr>
          <a:xfrm>
            <a:off x="731520" y="182880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C39A"/>
              </a:buClr>
              <a:buSzPts val="1100"/>
              <a:buFont typeface="Calibri"/>
              <a:buNone/>
            </a:pPr>
            <a:r>
              <a:rPr b="1" i="0" lang="en-US" sz="1100" u="none" cap="none" strike="noStrike">
                <a:solidFill>
                  <a:schemeClr val="dk1"/>
                </a:solidFill>
                <a:latin typeface="Calibri"/>
                <a:ea typeface="Calibri"/>
                <a:cs typeface="Calibri"/>
                <a:sym typeface="Calibri"/>
              </a:rPr>
              <a:t>A  →  Password accepted</a:t>
            </a:r>
            <a:endParaRPr b="1" i="0" sz="1100" u="none" cap="none" strike="noStrike">
              <a:solidFill>
                <a:schemeClr val="dk1"/>
              </a:solidFill>
              <a:latin typeface="Calibri"/>
              <a:ea typeface="Calibri"/>
              <a:cs typeface="Calibri"/>
              <a:sym typeface="Calibri"/>
            </a:endParaRPr>
          </a:p>
        </p:txBody>
      </p:sp>
      <p:sp>
        <p:nvSpPr>
          <p:cNvPr id="115" name="Google Shape;115;p7"/>
          <p:cNvSpPr/>
          <p:nvPr/>
        </p:nvSpPr>
        <p:spPr>
          <a:xfrm>
            <a:off x="594360" y="2304288"/>
            <a:ext cx="3657600" cy="594360"/>
          </a:xfrm>
          <a:prstGeom prst="roundRect">
            <a:avLst>
              <a:gd fmla="val 10769" name="adj"/>
            </a:avLst>
          </a:prstGeom>
          <a:solidFill>
            <a:srgbClr val="FFFFFF"/>
          </a:solidFill>
          <a:ln>
            <a:noFill/>
          </a:ln>
          <a:effectLst>
            <a:outerShdw blurRad="50800" rotWithShape="0" algn="bl" dir="27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731520" y="2331720"/>
            <a:ext cx="1463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88"/>
              </a:buClr>
              <a:buSzPts val="900"/>
              <a:buFont typeface="Calibri"/>
              <a:buNone/>
            </a:pPr>
            <a:r>
              <a:rPr b="0" i="1" lang="en-US" sz="900" u="none" cap="none" strike="noStrike">
                <a:solidFill>
                  <a:srgbClr val="888888"/>
                </a:solidFill>
                <a:latin typeface="Calibri"/>
                <a:ea typeface="Calibri"/>
                <a:cs typeface="Calibri"/>
                <a:sym typeface="Calibri"/>
              </a:rPr>
              <a:t>AN7 (leftmost)</a:t>
            </a:r>
            <a:endParaRPr b="0" i="0" sz="900" u="none" cap="none" strike="noStrike">
              <a:solidFill>
                <a:schemeClr val="dk1"/>
              </a:solidFill>
              <a:latin typeface="Calibri"/>
              <a:ea typeface="Calibri"/>
              <a:cs typeface="Calibri"/>
              <a:sym typeface="Calibri"/>
            </a:endParaRPr>
          </a:p>
        </p:txBody>
      </p:sp>
      <p:sp>
        <p:nvSpPr>
          <p:cNvPr id="117" name="Google Shape;117;p7"/>
          <p:cNvSpPr/>
          <p:nvPr/>
        </p:nvSpPr>
        <p:spPr>
          <a:xfrm>
            <a:off x="731520" y="256032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53E3E"/>
              </a:buClr>
              <a:buSzPts val="1100"/>
              <a:buFont typeface="Calibri"/>
              <a:buNone/>
            </a:pPr>
            <a:r>
              <a:rPr b="1" i="0" lang="en-US" sz="1100" u="none" cap="none" strike="noStrike">
                <a:solidFill>
                  <a:schemeClr val="dk1"/>
                </a:solidFill>
                <a:latin typeface="Calibri"/>
                <a:ea typeface="Calibri"/>
                <a:cs typeface="Calibri"/>
                <a:sym typeface="Calibri"/>
              </a:rPr>
              <a:t>E  →  Wrong password</a:t>
            </a:r>
            <a:endParaRPr b="0" i="0" sz="1100" u="none" cap="none" strike="noStrike">
              <a:solidFill>
                <a:schemeClr val="dk1"/>
              </a:solidFill>
              <a:latin typeface="Calibri"/>
              <a:ea typeface="Calibri"/>
              <a:cs typeface="Calibri"/>
              <a:sym typeface="Calibri"/>
            </a:endParaRPr>
          </a:p>
        </p:txBody>
      </p:sp>
      <p:sp>
        <p:nvSpPr>
          <p:cNvPr id="118" name="Google Shape;118;p7"/>
          <p:cNvSpPr/>
          <p:nvPr/>
        </p:nvSpPr>
        <p:spPr>
          <a:xfrm>
            <a:off x="594360" y="3035808"/>
            <a:ext cx="3657600" cy="594360"/>
          </a:xfrm>
          <a:prstGeom prst="roundRect">
            <a:avLst>
              <a:gd fmla="val 10769" name="adj"/>
            </a:avLst>
          </a:prstGeom>
          <a:solidFill>
            <a:srgbClr val="FFFFFF"/>
          </a:solidFill>
          <a:ln>
            <a:noFill/>
          </a:ln>
          <a:effectLst>
            <a:outerShdw blurRad="50800" rotWithShape="0" algn="bl" dir="27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a:off x="731520" y="3063240"/>
            <a:ext cx="1463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88"/>
              </a:buClr>
              <a:buSzPts val="900"/>
              <a:buFont typeface="Calibri"/>
              <a:buNone/>
            </a:pPr>
            <a:r>
              <a:rPr b="0" i="1" lang="en-US" sz="900" u="none" cap="none" strike="noStrike">
                <a:solidFill>
                  <a:srgbClr val="888888"/>
                </a:solidFill>
                <a:latin typeface="Calibri"/>
                <a:ea typeface="Calibri"/>
                <a:cs typeface="Calibri"/>
                <a:sym typeface="Calibri"/>
              </a:rPr>
              <a:t>AN1 (middle)</a:t>
            </a:r>
            <a:endParaRPr b="0" i="0" sz="900" u="none" cap="none" strike="noStrike">
              <a:solidFill>
                <a:schemeClr val="dk1"/>
              </a:solidFill>
              <a:latin typeface="Calibri"/>
              <a:ea typeface="Calibri"/>
              <a:cs typeface="Calibri"/>
              <a:sym typeface="Calibri"/>
            </a:endParaRPr>
          </a:p>
        </p:txBody>
      </p:sp>
      <p:sp>
        <p:nvSpPr>
          <p:cNvPr id="120" name="Google Shape;120;p7"/>
          <p:cNvSpPr/>
          <p:nvPr/>
        </p:nvSpPr>
        <p:spPr>
          <a:xfrm>
            <a:off x="731520" y="329184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00"/>
              <a:buFont typeface="Calibri"/>
              <a:buNone/>
            </a:pPr>
            <a:r>
              <a:rPr b="1" i="0" lang="en-US" sz="1100" u="none" cap="none" strike="noStrike">
                <a:solidFill>
                  <a:schemeClr val="dk1"/>
                </a:solidFill>
                <a:latin typeface="Calibri"/>
                <a:ea typeface="Calibri"/>
                <a:cs typeface="Calibri"/>
                <a:sym typeface="Calibri"/>
              </a:rPr>
              <a:t>Tens digit of free spaces</a:t>
            </a:r>
            <a:endParaRPr b="0" i="0" sz="1100" u="none" cap="none" strike="noStrike">
              <a:solidFill>
                <a:schemeClr val="dk1"/>
              </a:solidFill>
              <a:latin typeface="Calibri"/>
              <a:ea typeface="Calibri"/>
              <a:cs typeface="Calibri"/>
              <a:sym typeface="Calibri"/>
            </a:endParaRPr>
          </a:p>
        </p:txBody>
      </p:sp>
      <p:sp>
        <p:nvSpPr>
          <p:cNvPr id="121" name="Google Shape;121;p7"/>
          <p:cNvSpPr/>
          <p:nvPr/>
        </p:nvSpPr>
        <p:spPr>
          <a:xfrm>
            <a:off x="594360" y="3767328"/>
            <a:ext cx="3657600" cy="594360"/>
          </a:xfrm>
          <a:prstGeom prst="roundRect">
            <a:avLst>
              <a:gd fmla="val 10769" name="adj"/>
            </a:avLst>
          </a:prstGeom>
          <a:solidFill>
            <a:srgbClr val="FFFFFF"/>
          </a:solidFill>
          <a:ln>
            <a:noFill/>
          </a:ln>
          <a:effectLst>
            <a:outerShdw blurRad="50800" rotWithShape="0" algn="bl" dir="2700000" dist="127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731520" y="3794760"/>
            <a:ext cx="1463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88"/>
              </a:buClr>
              <a:buSzPts val="900"/>
              <a:buFont typeface="Calibri"/>
              <a:buNone/>
            </a:pPr>
            <a:r>
              <a:rPr b="0" i="1" lang="en-US" sz="900" u="none" cap="none" strike="noStrike">
                <a:solidFill>
                  <a:srgbClr val="888888"/>
                </a:solidFill>
                <a:latin typeface="Calibri"/>
                <a:ea typeface="Calibri"/>
                <a:cs typeface="Calibri"/>
                <a:sym typeface="Calibri"/>
              </a:rPr>
              <a:t>AN0 (rightmost)</a:t>
            </a:r>
            <a:endParaRPr b="0" i="0" sz="900" u="none" cap="none" strike="noStrike">
              <a:solidFill>
                <a:schemeClr val="dk1"/>
              </a:solidFill>
              <a:latin typeface="Calibri"/>
              <a:ea typeface="Calibri"/>
              <a:cs typeface="Calibri"/>
              <a:sym typeface="Calibri"/>
            </a:endParaRPr>
          </a:p>
        </p:txBody>
      </p:sp>
      <p:sp>
        <p:nvSpPr>
          <p:cNvPr id="123" name="Google Shape;123;p7"/>
          <p:cNvSpPr/>
          <p:nvPr/>
        </p:nvSpPr>
        <p:spPr>
          <a:xfrm>
            <a:off x="731520" y="4023360"/>
            <a:ext cx="32918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00"/>
              <a:buFont typeface="Calibri"/>
              <a:buNone/>
            </a:pPr>
            <a:r>
              <a:rPr b="1" i="0" lang="en-US" sz="1100" u="none" cap="none" strike="noStrike">
                <a:solidFill>
                  <a:schemeClr val="dk1"/>
                </a:solidFill>
                <a:latin typeface="Calibri"/>
                <a:ea typeface="Calibri"/>
                <a:cs typeface="Calibri"/>
                <a:sym typeface="Calibri"/>
              </a:rPr>
              <a:t>Ones digit of free spaces</a:t>
            </a:r>
            <a:endParaRPr b="0" i="0" sz="1100" u="none" cap="none" strike="noStrike">
              <a:solidFill>
                <a:schemeClr val="dk1"/>
              </a:solidFill>
              <a:latin typeface="Calibri"/>
              <a:ea typeface="Calibri"/>
              <a:cs typeface="Calibri"/>
              <a:sym typeface="Calibri"/>
            </a:endParaRPr>
          </a:p>
        </p:txBody>
      </p:sp>
      <p:sp>
        <p:nvSpPr>
          <p:cNvPr id="124" name="Google Shape;124;p7"/>
          <p:cNvSpPr/>
          <p:nvPr/>
        </p:nvSpPr>
        <p:spPr>
          <a:xfrm>
            <a:off x="4754880" y="1005840"/>
            <a:ext cx="3931920" cy="3657600"/>
          </a:xfrm>
          <a:prstGeom prst="roundRect">
            <a:avLst>
              <a:gd fmla="val 3000" name="adj"/>
            </a:avLst>
          </a:prstGeom>
          <a:solidFill>
            <a:srgbClr val="F0FFF4"/>
          </a:solidFill>
          <a:ln>
            <a:noFill/>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4892040" y="1097280"/>
            <a:ext cx="3657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400"/>
              <a:buFont typeface="Cambria"/>
              <a:buNone/>
            </a:pPr>
            <a:r>
              <a:rPr b="1" i="0" lang="en-US" sz="1400" u="none" cap="none" strike="noStrike">
                <a:solidFill>
                  <a:srgbClr val="1B2A4A"/>
                </a:solidFill>
                <a:latin typeface="Cambria"/>
                <a:ea typeface="Cambria"/>
                <a:cs typeface="Cambria"/>
                <a:sym typeface="Cambria"/>
              </a:rPr>
              <a:t>LED Status Indicators</a:t>
            </a:r>
            <a:endParaRPr b="0" i="0" sz="1400" u="none" cap="none" strike="noStrike">
              <a:solidFill>
                <a:schemeClr val="dk1"/>
              </a:solidFill>
              <a:latin typeface="Calibri"/>
              <a:ea typeface="Calibri"/>
              <a:cs typeface="Calibri"/>
              <a:sym typeface="Calibri"/>
            </a:endParaRPr>
          </a:p>
        </p:txBody>
      </p:sp>
      <p:sp>
        <p:nvSpPr>
          <p:cNvPr id="126" name="Google Shape;126;p7"/>
          <p:cNvSpPr/>
          <p:nvPr/>
        </p:nvSpPr>
        <p:spPr>
          <a:xfrm>
            <a:off x="4983480" y="1691640"/>
            <a:ext cx="320040" cy="320040"/>
          </a:xfrm>
          <a:prstGeom prst="ellipse">
            <a:avLst/>
          </a:prstGeom>
          <a:solidFill>
            <a:srgbClr val="02C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5394960" y="1664208"/>
            <a:ext cx="685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mbria"/>
              <a:buNone/>
            </a:pPr>
            <a:r>
              <a:rPr b="1" i="0" lang="en-US" sz="1100" u="none" cap="none" strike="noStrike">
                <a:solidFill>
                  <a:srgbClr val="1B2A4A"/>
                </a:solidFill>
                <a:latin typeface="Cambria"/>
                <a:ea typeface="Cambria"/>
                <a:cs typeface="Cambria"/>
                <a:sym typeface="Cambria"/>
              </a:rPr>
              <a:t>LED0</a:t>
            </a:r>
            <a:endParaRPr b="0" i="0" sz="1100" u="none" cap="none" strike="noStrike">
              <a:solidFill>
                <a:schemeClr val="dk1"/>
              </a:solidFill>
              <a:latin typeface="Calibri"/>
              <a:ea typeface="Calibri"/>
              <a:cs typeface="Calibri"/>
              <a:sym typeface="Calibri"/>
            </a:endParaRPr>
          </a:p>
        </p:txBody>
      </p:sp>
      <p:sp>
        <p:nvSpPr>
          <p:cNvPr id="128" name="Google Shape;128;p7"/>
          <p:cNvSpPr/>
          <p:nvPr/>
        </p:nvSpPr>
        <p:spPr>
          <a:xfrm>
            <a:off x="6126480" y="1664208"/>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Space available</a:t>
            </a:r>
            <a:endParaRPr b="0" i="0" sz="1100" u="none" cap="none" strike="noStrike">
              <a:solidFill>
                <a:schemeClr val="dk1"/>
              </a:solidFill>
              <a:latin typeface="Calibri"/>
              <a:ea typeface="Calibri"/>
              <a:cs typeface="Calibri"/>
              <a:sym typeface="Calibri"/>
            </a:endParaRPr>
          </a:p>
        </p:txBody>
      </p:sp>
      <p:sp>
        <p:nvSpPr>
          <p:cNvPr id="129" name="Google Shape;129;p7"/>
          <p:cNvSpPr/>
          <p:nvPr/>
        </p:nvSpPr>
        <p:spPr>
          <a:xfrm>
            <a:off x="4983480" y="2423160"/>
            <a:ext cx="320040" cy="320040"/>
          </a:xfrm>
          <a:prstGeom prst="ellipse">
            <a:avLst/>
          </a:prstGeom>
          <a:solidFill>
            <a:srgbClr val="E5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a:off x="5394960" y="2395728"/>
            <a:ext cx="685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mbria"/>
              <a:buNone/>
            </a:pPr>
            <a:r>
              <a:rPr b="1" i="0" lang="en-US" sz="1100" u="none" cap="none" strike="noStrike">
                <a:solidFill>
                  <a:srgbClr val="1B2A4A"/>
                </a:solidFill>
                <a:latin typeface="Cambria"/>
                <a:ea typeface="Cambria"/>
                <a:cs typeface="Cambria"/>
                <a:sym typeface="Cambria"/>
              </a:rPr>
              <a:t>LED1</a:t>
            </a:r>
            <a:endParaRPr b="0" i="0" sz="1100" u="none" cap="none" strike="noStrike">
              <a:solidFill>
                <a:schemeClr val="dk1"/>
              </a:solidFill>
              <a:latin typeface="Calibri"/>
              <a:ea typeface="Calibri"/>
              <a:cs typeface="Calibri"/>
              <a:sym typeface="Calibri"/>
            </a:endParaRPr>
          </a:p>
        </p:txBody>
      </p:sp>
      <p:sp>
        <p:nvSpPr>
          <p:cNvPr id="131" name="Google Shape;131;p7"/>
          <p:cNvSpPr/>
          <p:nvPr/>
        </p:nvSpPr>
        <p:spPr>
          <a:xfrm>
            <a:off x="6126480" y="2395728"/>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Parking full</a:t>
            </a:r>
            <a:endParaRPr b="0" i="0" sz="1100" u="none" cap="none" strike="noStrike">
              <a:solidFill>
                <a:schemeClr val="dk1"/>
              </a:solidFill>
              <a:latin typeface="Calibri"/>
              <a:ea typeface="Calibri"/>
              <a:cs typeface="Calibri"/>
              <a:sym typeface="Calibri"/>
            </a:endParaRPr>
          </a:p>
        </p:txBody>
      </p:sp>
      <p:sp>
        <p:nvSpPr>
          <p:cNvPr id="132" name="Google Shape;132;p7"/>
          <p:cNvSpPr/>
          <p:nvPr/>
        </p:nvSpPr>
        <p:spPr>
          <a:xfrm>
            <a:off x="4983480" y="3154680"/>
            <a:ext cx="320040" cy="320040"/>
          </a:xfrm>
          <a:prstGeom prst="ellipse">
            <a:avLst/>
          </a:prstGeom>
          <a:solidFill>
            <a:srgbClr val="3182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
          <p:cNvSpPr/>
          <p:nvPr/>
        </p:nvSpPr>
        <p:spPr>
          <a:xfrm>
            <a:off x="5394960" y="3127248"/>
            <a:ext cx="685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mbria"/>
              <a:buNone/>
            </a:pPr>
            <a:r>
              <a:rPr b="1" i="0" lang="en-US" sz="1100" u="none" cap="none" strike="noStrike">
                <a:solidFill>
                  <a:srgbClr val="1B2A4A"/>
                </a:solidFill>
                <a:latin typeface="Cambria"/>
                <a:ea typeface="Cambria"/>
                <a:cs typeface="Cambria"/>
                <a:sym typeface="Cambria"/>
              </a:rPr>
              <a:t>LED2</a:t>
            </a:r>
            <a:endParaRPr b="0" i="0" sz="1100" u="none" cap="none" strike="noStrike">
              <a:solidFill>
                <a:schemeClr val="dk1"/>
              </a:solidFill>
              <a:latin typeface="Calibri"/>
              <a:ea typeface="Calibri"/>
              <a:cs typeface="Calibri"/>
              <a:sym typeface="Calibri"/>
            </a:endParaRPr>
          </a:p>
        </p:txBody>
      </p:sp>
      <p:sp>
        <p:nvSpPr>
          <p:cNvPr id="134" name="Google Shape;134;p7"/>
          <p:cNvSpPr/>
          <p:nvPr/>
        </p:nvSpPr>
        <p:spPr>
          <a:xfrm>
            <a:off x="6126480" y="3127248"/>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Password accepted</a:t>
            </a:r>
            <a:endParaRPr b="0" i="0" sz="1100" u="none" cap="none" strike="noStrike">
              <a:solidFill>
                <a:schemeClr val="dk1"/>
              </a:solidFill>
              <a:latin typeface="Calibri"/>
              <a:ea typeface="Calibri"/>
              <a:cs typeface="Calibri"/>
              <a:sym typeface="Calibri"/>
            </a:endParaRPr>
          </a:p>
        </p:txBody>
      </p:sp>
      <p:sp>
        <p:nvSpPr>
          <p:cNvPr id="135" name="Google Shape;135;p7"/>
          <p:cNvSpPr/>
          <p:nvPr/>
        </p:nvSpPr>
        <p:spPr>
          <a:xfrm>
            <a:off x="4983480" y="3886200"/>
            <a:ext cx="320040" cy="320040"/>
          </a:xfrm>
          <a:prstGeom prst="ellipse">
            <a:avLst/>
          </a:prstGeom>
          <a:solidFill>
            <a:srgbClr val="D69E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
          <p:cNvSpPr/>
          <p:nvPr/>
        </p:nvSpPr>
        <p:spPr>
          <a:xfrm>
            <a:off x="5394960" y="3858768"/>
            <a:ext cx="685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100"/>
              <a:buFont typeface="Cambria"/>
              <a:buNone/>
            </a:pPr>
            <a:r>
              <a:rPr b="1" i="0" lang="en-US" sz="1100" u="none" cap="none" strike="noStrike">
                <a:solidFill>
                  <a:srgbClr val="1B2A4A"/>
                </a:solidFill>
                <a:latin typeface="Cambria"/>
                <a:ea typeface="Cambria"/>
                <a:cs typeface="Cambria"/>
                <a:sym typeface="Cambria"/>
              </a:rPr>
              <a:t>LED3</a:t>
            </a:r>
            <a:endParaRPr b="0" i="0" sz="1100" u="none" cap="none" strike="noStrike">
              <a:solidFill>
                <a:schemeClr val="dk1"/>
              </a:solidFill>
              <a:latin typeface="Calibri"/>
              <a:ea typeface="Calibri"/>
              <a:cs typeface="Calibri"/>
              <a:sym typeface="Calibri"/>
            </a:endParaRPr>
          </a:p>
        </p:txBody>
      </p:sp>
      <p:sp>
        <p:nvSpPr>
          <p:cNvPr id="137" name="Google Shape;137;p7"/>
          <p:cNvSpPr/>
          <p:nvPr/>
        </p:nvSpPr>
        <p:spPr>
          <a:xfrm>
            <a:off x="6126480" y="3858768"/>
            <a:ext cx="23774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Password rejected</a:t>
            </a:r>
            <a:endParaRPr b="0" i="0" sz="1100" u="none" cap="none" strike="noStrike">
              <a:solidFill>
                <a:schemeClr val="dk1"/>
              </a:solidFill>
              <a:latin typeface="Calibri"/>
              <a:ea typeface="Calibri"/>
              <a:cs typeface="Calibri"/>
              <a:sym typeface="Calibri"/>
            </a:endParaRPr>
          </a:p>
        </p:txBody>
      </p:sp>
      <p:sp>
        <p:nvSpPr>
          <p:cNvPr id="138" name="Google Shape;138;p7"/>
          <p:cNvSpPr/>
          <p:nvPr/>
        </p:nvSpPr>
        <p:spPr>
          <a:xfrm>
            <a:off x="4754880" y="4251960"/>
            <a:ext cx="393192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AAAAA"/>
              </a:buClr>
              <a:buSzPts val="1000"/>
              <a:buFont typeface="Calibri"/>
              <a:buNone/>
            </a:pPr>
            <a:r>
              <a:rPr b="0" i="1" lang="en-US" sz="1000" u="none" cap="none" strike="noStrike">
                <a:solidFill>
                  <a:srgbClr val="AAAAAA"/>
                </a:solidFill>
                <a:latin typeface="Calibri"/>
                <a:ea typeface="Calibri"/>
                <a:cs typeface="Calibri"/>
                <a:sym typeface="Calibri"/>
              </a:rPr>
              <a:t>LED[15:4] are unused and held low</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143" name="Shape 143"/>
        <p:cNvGrpSpPr/>
        <p:nvPr/>
      </p:nvGrpSpPr>
      <p:grpSpPr>
        <a:xfrm>
          <a:off x="0" y="0"/>
          <a:ext cx="0" cy="0"/>
          <a:chOff x="0" y="0"/>
          <a:chExt cx="0" cy="0"/>
        </a:xfrm>
      </p:grpSpPr>
      <p:sp>
        <p:nvSpPr>
          <p:cNvPr id="144" name="Google Shape;144;p9"/>
          <p:cNvSpPr/>
          <p:nvPr/>
        </p:nvSpPr>
        <p:spPr>
          <a:xfrm>
            <a:off x="457200" y="256032"/>
            <a:ext cx="804672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800"/>
              <a:buFont typeface="Cambria"/>
              <a:buNone/>
            </a:pPr>
            <a:r>
              <a:rPr b="1" i="0" lang="en-US" sz="2800" u="none" cap="none" strike="noStrike">
                <a:solidFill>
                  <a:srgbClr val="1B2A4A"/>
                </a:solidFill>
                <a:latin typeface="Cambria"/>
                <a:ea typeface="Cambria"/>
                <a:cs typeface="Cambria"/>
                <a:sym typeface="Cambria"/>
              </a:rPr>
              <a:t>PCB Layout </a:t>
            </a:r>
            <a:r>
              <a:rPr b="1" lang="en-US" sz="2800">
                <a:solidFill>
                  <a:srgbClr val="1B2A4A"/>
                </a:solidFill>
                <a:latin typeface="Cambria"/>
                <a:ea typeface="Cambria"/>
                <a:cs typeface="Cambria"/>
                <a:sym typeface="Cambria"/>
              </a:rPr>
              <a:t>-</a:t>
            </a:r>
            <a:r>
              <a:rPr b="1" i="0" lang="en-US" sz="2800" u="none" cap="none" strike="noStrike">
                <a:solidFill>
                  <a:srgbClr val="1B2A4A"/>
                </a:solidFill>
                <a:latin typeface="Cambria"/>
                <a:ea typeface="Cambria"/>
                <a:cs typeface="Cambria"/>
                <a:sym typeface="Cambria"/>
              </a:rPr>
              <a:t> Altium Designer</a:t>
            </a:r>
            <a:endParaRPr b="0" i="0" sz="2800" u="none" cap="none" strike="noStrike">
              <a:solidFill>
                <a:schemeClr val="dk1"/>
              </a:solidFill>
              <a:latin typeface="Calibri"/>
              <a:ea typeface="Calibri"/>
              <a:cs typeface="Calibri"/>
              <a:sym typeface="Calibri"/>
            </a:endParaRPr>
          </a:p>
        </p:txBody>
      </p:sp>
      <p:sp>
        <p:nvSpPr>
          <p:cNvPr id="145" name="Google Shape;145;p9"/>
          <p:cNvSpPr/>
          <p:nvPr/>
        </p:nvSpPr>
        <p:spPr>
          <a:xfrm>
            <a:off x="5760720" y="914400"/>
            <a:ext cx="2926080" cy="3977640"/>
          </a:xfrm>
          <a:prstGeom prst="roundRect">
            <a:avLst>
              <a:gd fmla="val 3750" name="adj"/>
            </a:avLst>
          </a:prstGeom>
          <a:solidFill>
            <a:srgbClr val="FFFFFF"/>
          </a:solidFill>
          <a:ln>
            <a:noFill/>
          </a:ln>
          <a:effectLst>
            <a:outerShdw blurRad="76200" rotWithShape="0" algn="bl" dir="27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9"/>
          <p:cNvSpPr/>
          <p:nvPr/>
        </p:nvSpPr>
        <p:spPr>
          <a:xfrm>
            <a:off x="5897880" y="1005840"/>
            <a:ext cx="265176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300"/>
              <a:buFont typeface="Cambria"/>
              <a:buNone/>
            </a:pPr>
            <a:r>
              <a:rPr b="1" i="0" lang="en-US" sz="1300" u="none" cap="none" strike="noStrike">
                <a:solidFill>
                  <a:srgbClr val="1B2A4A"/>
                </a:solidFill>
                <a:latin typeface="Cambria"/>
                <a:ea typeface="Cambria"/>
                <a:cs typeface="Cambria"/>
                <a:sym typeface="Cambria"/>
              </a:rPr>
              <a:t>Component Map</a:t>
            </a:r>
            <a:endParaRPr b="0" i="0" sz="1300" u="none" cap="none" strike="noStrike">
              <a:solidFill>
                <a:schemeClr val="dk1"/>
              </a:solidFill>
              <a:latin typeface="Calibri"/>
              <a:ea typeface="Calibri"/>
              <a:cs typeface="Calibri"/>
              <a:sym typeface="Calibri"/>
            </a:endParaRPr>
          </a:p>
        </p:txBody>
      </p:sp>
      <p:sp>
        <p:nvSpPr>
          <p:cNvPr id="147" name="Google Shape;147;p9"/>
          <p:cNvSpPr/>
          <p:nvPr/>
        </p:nvSpPr>
        <p:spPr>
          <a:xfrm>
            <a:off x="5897880" y="1508760"/>
            <a:ext cx="201168" cy="201168"/>
          </a:xfrm>
          <a:prstGeom prst="ellipse">
            <a:avLst/>
          </a:prstGeom>
          <a:solidFill>
            <a:srgbClr val="5555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9"/>
          <p:cNvSpPr/>
          <p:nvPr/>
        </p:nvSpPr>
        <p:spPr>
          <a:xfrm>
            <a:off x="6172200" y="1444752"/>
            <a:ext cx="7315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1" i="0" lang="en-US" sz="1000" u="none" cap="none" strike="noStrike">
                <a:solidFill>
                  <a:srgbClr val="1B2A4A"/>
                </a:solidFill>
                <a:latin typeface="Calibri"/>
                <a:ea typeface="Calibri"/>
                <a:cs typeface="Calibri"/>
                <a:sym typeface="Calibri"/>
              </a:rPr>
              <a:t>U1</a:t>
            </a:r>
            <a:endParaRPr b="0" i="0" sz="1000" u="none" cap="none" strike="noStrike">
              <a:solidFill>
                <a:schemeClr val="dk1"/>
              </a:solidFill>
              <a:latin typeface="Calibri"/>
              <a:ea typeface="Calibri"/>
              <a:cs typeface="Calibri"/>
              <a:sym typeface="Calibri"/>
            </a:endParaRPr>
          </a:p>
        </p:txBody>
      </p:sp>
      <p:sp>
        <p:nvSpPr>
          <p:cNvPr id="149" name="Google Shape;149;p9"/>
          <p:cNvSpPr/>
          <p:nvPr/>
        </p:nvSpPr>
        <p:spPr>
          <a:xfrm>
            <a:off x="6931152" y="1444752"/>
            <a:ext cx="16459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000"/>
              <a:buFont typeface="Calibri"/>
              <a:buNone/>
            </a:pPr>
            <a:r>
              <a:rPr b="0" i="0" lang="en-US" sz="1000" u="none" cap="none" strike="noStrike">
                <a:solidFill>
                  <a:srgbClr val="4A5568"/>
                </a:solidFill>
                <a:latin typeface="Calibri"/>
                <a:ea typeface="Calibri"/>
                <a:cs typeface="Calibri"/>
                <a:sym typeface="Calibri"/>
              </a:rPr>
              <a:t>FPGA </a:t>
            </a:r>
            <a:r>
              <a:rPr lang="en-US" sz="1000">
                <a:solidFill>
                  <a:srgbClr val="4A5568"/>
                </a:solidFill>
                <a:latin typeface="Calibri"/>
                <a:ea typeface="Calibri"/>
                <a:cs typeface="Calibri"/>
                <a:sym typeface="Calibri"/>
              </a:rPr>
              <a:t>-</a:t>
            </a:r>
            <a:r>
              <a:rPr b="0" i="0" lang="en-US" sz="1000" u="none" cap="none" strike="noStrike">
                <a:solidFill>
                  <a:srgbClr val="4A5568"/>
                </a:solidFill>
                <a:latin typeface="Calibri"/>
                <a:ea typeface="Calibri"/>
                <a:cs typeface="Calibri"/>
                <a:sym typeface="Calibri"/>
              </a:rPr>
              <a:t> MachXO2-640HC</a:t>
            </a:r>
            <a:endParaRPr b="0" i="0" sz="1000" u="none" cap="none" strike="noStrike">
              <a:solidFill>
                <a:schemeClr val="dk1"/>
              </a:solidFill>
              <a:latin typeface="Calibri"/>
              <a:ea typeface="Calibri"/>
              <a:cs typeface="Calibri"/>
              <a:sym typeface="Calibri"/>
            </a:endParaRPr>
          </a:p>
        </p:txBody>
      </p:sp>
      <p:sp>
        <p:nvSpPr>
          <p:cNvPr id="150" name="Google Shape;150;p9"/>
          <p:cNvSpPr/>
          <p:nvPr/>
        </p:nvSpPr>
        <p:spPr>
          <a:xfrm>
            <a:off x="5897880" y="1965960"/>
            <a:ext cx="201168" cy="201168"/>
          </a:xfrm>
          <a:prstGeom prst="ellipse">
            <a:avLst/>
          </a:prstGeom>
          <a:solidFill>
            <a:srgbClr val="11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
          <p:cNvSpPr/>
          <p:nvPr/>
        </p:nvSpPr>
        <p:spPr>
          <a:xfrm>
            <a:off x="6172200" y="1901952"/>
            <a:ext cx="7315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1" i="0" lang="en-US" sz="1000" u="none" cap="none" strike="noStrike">
                <a:solidFill>
                  <a:srgbClr val="1B2A4A"/>
                </a:solidFill>
                <a:latin typeface="Calibri"/>
                <a:ea typeface="Calibri"/>
                <a:cs typeface="Calibri"/>
                <a:sym typeface="Calibri"/>
              </a:rPr>
              <a:t>DS5</a:t>
            </a:r>
            <a:endParaRPr b="0" i="0" sz="1000" u="none" cap="none" strike="noStrike">
              <a:solidFill>
                <a:schemeClr val="dk1"/>
              </a:solidFill>
              <a:latin typeface="Calibri"/>
              <a:ea typeface="Calibri"/>
              <a:cs typeface="Calibri"/>
              <a:sym typeface="Calibri"/>
            </a:endParaRPr>
          </a:p>
        </p:txBody>
      </p:sp>
      <p:sp>
        <p:nvSpPr>
          <p:cNvPr id="152" name="Google Shape;152;p9"/>
          <p:cNvSpPr/>
          <p:nvPr/>
        </p:nvSpPr>
        <p:spPr>
          <a:xfrm>
            <a:off x="6931152" y="1901952"/>
            <a:ext cx="16459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000"/>
              <a:buFont typeface="Calibri"/>
              <a:buNone/>
            </a:pPr>
            <a:r>
              <a:rPr b="0" i="0" lang="en-US" sz="1000" u="none" cap="none" strike="noStrike">
                <a:solidFill>
                  <a:srgbClr val="4A5568"/>
                </a:solidFill>
                <a:latin typeface="Calibri"/>
                <a:ea typeface="Calibri"/>
                <a:cs typeface="Calibri"/>
                <a:sym typeface="Calibri"/>
              </a:rPr>
              <a:t>4-digit 7-Seg display</a:t>
            </a:r>
            <a:endParaRPr b="0" i="0" sz="1000" u="none" cap="none" strike="noStrike">
              <a:solidFill>
                <a:schemeClr val="dk1"/>
              </a:solidFill>
              <a:latin typeface="Calibri"/>
              <a:ea typeface="Calibri"/>
              <a:cs typeface="Calibri"/>
              <a:sym typeface="Calibri"/>
            </a:endParaRPr>
          </a:p>
        </p:txBody>
      </p:sp>
      <p:sp>
        <p:nvSpPr>
          <p:cNvPr id="153" name="Google Shape;153;p9"/>
          <p:cNvSpPr/>
          <p:nvPr/>
        </p:nvSpPr>
        <p:spPr>
          <a:xfrm>
            <a:off x="5897880" y="2423160"/>
            <a:ext cx="201168" cy="201168"/>
          </a:xfrm>
          <a:prstGeom prst="ellipse">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9"/>
          <p:cNvSpPr/>
          <p:nvPr/>
        </p:nvSpPr>
        <p:spPr>
          <a:xfrm>
            <a:off x="6172200" y="2359152"/>
            <a:ext cx="7315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1" i="0" lang="en-US" sz="1000" u="none" cap="none" strike="noStrike">
                <a:solidFill>
                  <a:srgbClr val="1B2A4A"/>
                </a:solidFill>
                <a:latin typeface="Calibri"/>
                <a:ea typeface="Calibri"/>
                <a:cs typeface="Calibri"/>
                <a:sym typeface="Calibri"/>
              </a:rPr>
              <a:t>SW1–SW4</a:t>
            </a:r>
            <a:endParaRPr b="0" i="0" sz="1000" u="none" cap="none" strike="noStrike">
              <a:solidFill>
                <a:schemeClr val="dk1"/>
              </a:solidFill>
              <a:latin typeface="Calibri"/>
              <a:ea typeface="Calibri"/>
              <a:cs typeface="Calibri"/>
              <a:sym typeface="Calibri"/>
            </a:endParaRPr>
          </a:p>
        </p:txBody>
      </p:sp>
      <p:sp>
        <p:nvSpPr>
          <p:cNvPr id="155" name="Google Shape;155;p9"/>
          <p:cNvSpPr/>
          <p:nvPr/>
        </p:nvSpPr>
        <p:spPr>
          <a:xfrm>
            <a:off x="6931152" y="2359152"/>
            <a:ext cx="16459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000"/>
              <a:buFont typeface="Calibri"/>
              <a:buNone/>
            </a:pPr>
            <a:r>
              <a:rPr b="0" i="0" lang="en-US" sz="1000" u="none" cap="none" strike="noStrike">
                <a:solidFill>
                  <a:srgbClr val="4A5568"/>
                </a:solidFill>
                <a:latin typeface="Calibri"/>
                <a:ea typeface="Calibri"/>
                <a:cs typeface="Calibri"/>
                <a:sym typeface="Calibri"/>
              </a:rPr>
              <a:t>Tactile push buttons</a:t>
            </a:r>
            <a:endParaRPr b="0" i="0" sz="1000" u="none" cap="none" strike="noStrike">
              <a:solidFill>
                <a:schemeClr val="dk1"/>
              </a:solidFill>
              <a:latin typeface="Calibri"/>
              <a:ea typeface="Calibri"/>
              <a:cs typeface="Calibri"/>
              <a:sym typeface="Calibri"/>
            </a:endParaRPr>
          </a:p>
        </p:txBody>
      </p:sp>
      <p:sp>
        <p:nvSpPr>
          <p:cNvPr id="156" name="Google Shape;156;p9"/>
          <p:cNvSpPr/>
          <p:nvPr/>
        </p:nvSpPr>
        <p:spPr>
          <a:xfrm>
            <a:off x="5897880" y="2880360"/>
            <a:ext cx="201168" cy="201168"/>
          </a:xfrm>
          <a:prstGeom prst="ellipse">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9"/>
          <p:cNvSpPr/>
          <p:nvPr/>
        </p:nvSpPr>
        <p:spPr>
          <a:xfrm>
            <a:off x="6172200" y="2816352"/>
            <a:ext cx="7315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1" i="0" lang="en-US" sz="1000" u="none" cap="none" strike="noStrike">
                <a:solidFill>
                  <a:srgbClr val="1B2A4A"/>
                </a:solidFill>
                <a:latin typeface="Calibri"/>
                <a:ea typeface="Calibri"/>
                <a:cs typeface="Calibri"/>
                <a:sym typeface="Calibri"/>
              </a:rPr>
              <a:t>SW5</a:t>
            </a:r>
            <a:endParaRPr b="0" i="0" sz="1000" u="none" cap="none" strike="noStrike">
              <a:solidFill>
                <a:schemeClr val="dk1"/>
              </a:solidFill>
              <a:latin typeface="Calibri"/>
              <a:ea typeface="Calibri"/>
              <a:cs typeface="Calibri"/>
              <a:sym typeface="Calibri"/>
            </a:endParaRPr>
          </a:p>
        </p:txBody>
      </p:sp>
      <p:sp>
        <p:nvSpPr>
          <p:cNvPr id="158" name="Google Shape;158;p9"/>
          <p:cNvSpPr/>
          <p:nvPr/>
        </p:nvSpPr>
        <p:spPr>
          <a:xfrm>
            <a:off x="6931152" y="2816352"/>
            <a:ext cx="16459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000"/>
              <a:buFont typeface="Calibri"/>
              <a:buNone/>
            </a:pPr>
            <a:r>
              <a:rPr b="0" i="0" lang="en-US" sz="1000" u="none" cap="none" strike="noStrike">
                <a:solidFill>
                  <a:srgbClr val="4A5568"/>
                </a:solidFill>
                <a:latin typeface="Calibri"/>
                <a:ea typeface="Calibri"/>
                <a:cs typeface="Calibri"/>
                <a:sym typeface="Calibri"/>
              </a:rPr>
              <a:t>4-pos DIP switch (PW)</a:t>
            </a:r>
            <a:endParaRPr b="0" i="0" sz="1000" u="none" cap="none" strike="noStrike">
              <a:solidFill>
                <a:schemeClr val="dk1"/>
              </a:solidFill>
              <a:latin typeface="Calibri"/>
              <a:ea typeface="Calibri"/>
              <a:cs typeface="Calibri"/>
              <a:sym typeface="Calibri"/>
            </a:endParaRPr>
          </a:p>
        </p:txBody>
      </p:sp>
      <p:sp>
        <p:nvSpPr>
          <p:cNvPr id="159" name="Google Shape;159;p9"/>
          <p:cNvSpPr/>
          <p:nvPr/>
        </p:nvSpPr>
        <p:spPr>
          <a:xfrm>
            <a:off x="5897880" y="3337560"/>
            <a:ext cx="201168" cy="201168"/>
          </a:xfrm>
          <a:prstGeom prst="ellipse">
            <a:avLst/>
          </a:prstGeom>
          <a:solidFill>
            <a:srgbClr val="8B69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p:nvPr/>
        </p:nvSpPr>
        <p:spPr>
          <a:xfrm>
            <a:off x="6172200" y="3273552"/>
            <a:ext cx="7315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1" i="0" lang="en-US" sz="1000" u="none" cap="none" strike="noStrike">
                <a:solidFill>
                  <a:srgbClr val="1B2A4A"/>
                </a:solidFill>
                <a:latin typeface="Calibri"/>
                <a:ea typeface="Calibri"/>
                <a:cs typeface="Calibri"/>
                <a:sym typeface="Calibri"/>
              </a:rPr>
              <a:t>C1–C7</a:t>
            </a:r>
            <a:endParaRPr b="0" i="0" sz="1000" u="none" cap="none" strike="noStrike">
              <a:solidFill>
                <a:schemeClr val="dk1"/>
              </a:solidFill>
              <a:latin typeface="Calibri"/>
              <a:ea typeface="Calibri"/>
              <a:cs typeface="Calibri"/>
              <a:sym typeface="Calibri"/>
            </a:endParaRPr>
          </a:p>
        </p:txBody>
      </p:sp>
      <p:sp>
        <p:nvSpPr>
          <p:cNvPr id="161" name="Google Shape;161;p9"/>
          <p:cNvSpPr/>
          <p:nvPr/>
        </p:nvSpPr>
        <p:spPr>
          <a:xfrm>
            <a:off x="6931152" y="3273552"/>
            <a:ext cx="16459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000"/>
              <a:buFont typeface="Calibri"/>
              <a:buNone/>
            </a:pPr>
            <a:r>
              <a:rPr b="0" i="0" lang="en-US" sz="1000" u="none" cap="none" strike="noStrike">
                <a:solidFill>
                  <a:srgbClr val="4A5568"/>
                </a:solidFill>
                <a:latin typeface="Calibri"/>
                <a:ea typeface="Calibri"/>
                <a:cs typeface="Calibri"/>
                <a:sym typeface="Calibri"/>
              </a:rPr>
              <a:t>Decoupling capacitors</a:t>
            </a:r>
            <a:endParaRPr b="0" i="0" sz="1000" u="none" cap="none" strike="noStrike">
              <a:solidFill>
                <a:schemeClr val="dk1"/>
              </a:solidFill>
              <a:latin typeface="Calibri"/>
              <a:ea typeface="Calibri"/>
              <a:cs typeface="Calibri"/>
              <a:sym typeface="Calibri"/>
            </a:endParaRPr>
          </a:p>
        </p:txBody>
      </p:sp>
      <p:sp>
        <p:nvSpPr>
          <p:cNvPr id="162" name="Google Shape;162;p9"/>
          <p:cNvSpPr/>
          <p:nvPr/>
        </p:nvSpPr>
        <p:spPr>
          <a:xfrm>
            <a:off x="5897880" y="3794760"/>
            <a:ext cx="201168" cy="201168"/>
          </a:xfrm>
          <a:prstGeom prst="ellipse">
            <a:avLst/>
          </a:prstGeom>
          <a:solidFill>
            <a:srgbClr val="8B69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6172200" y="3730752"/>
            <a:ext cx="7315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1" i="0" lang="en-US" sz="1000" u="none" cap="none" strike="noStrike">
                <a:solidFill>
                  <a:srgbClr val="1B2A4A"/>
                </a:solidFill>
                <a:latin typeface="Calibri"/>
                <a:ea typeface="Calibri"/>
                <a:cs typeface="Calibri"/>
                <a:sym typeface="Calibri"/>
              </a:rPr>
              <a:t>R1–R20</a:t>
            </a:r>
            <a:endParaRPr b="0" i="0" sz="1000" u="none" cap="none" strike="noStrike">
              <a:solidFill>
                <a:schemeClr val="dk1"/>
              </a:solidFill>
              <a:latin typeface="Calibri"/>
              <a:ea typeface="Calibri"/>
              <a:cs typeface="Calibri"/>
              <a:sym typeface="Calibri"/>
            </a:endParaRPr>
          </a:p>
        </p:txBody>
      </p:sp>
      <p:sp>
        <p:nvSpPr>
          <p:cNvPr id="164" name="Google Shape;164;p9"/>
          <p:cNvSpPr/>
          <p:nvPr/>
        </p:nvSpPr>
        <p:spPr>
          <a:xfrm>
            <a:off x="6931152" y="3730752"/>
            <a:ext cx="16459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000"/>
              <a:buFont typeface="Calibri"/>
              <a:buNone/>
            </a:pPr>
            <a:r>
              <a:rPr b="0" i="0" lang="en-US" sz="1000" u="none" cap="none" strike="noStrike">
                <a:solidFill>
                  <a:srgbClr val="4A5568"/>
                </a:solidFill>
                <a:latin typeface="Calibri"/>
                <a:ea typeface="Calibri"/>
                <a:cs typeface="Calibri"/>
                <a:sym typeface="Calibri"/>
              </a:rPr>
              <a:t>Current-limit resistors</a:t>
            </a:r>
            <a:endParaRPr b="0" i="0" sz="1000" u="none" cap="none" strike="noStrike">
              <a:solidFill>
                <a:schemeClr val="dk1"/>
              </a:solidFill>
              <a:latin typeface="Calibri"/>
              <a:ea typeface="Calibri"/>
              <a:cs typeface="Calibri"/>
              <a:sym typeface="Calibri"/>
            </a:endParaRPr>
          </a:p>
        </p:txBody>
      </p:sp>
      <p:sp>
        <p:nvSpPr>
          <p:cNvPr id="165" name="Google Shape;165;p9"/>
          <p:cNvSpPr/>
          <p:nvPr/>
        </p:nvSpPr>
        <p:spPr>
          <a:xfrm>
            <a:off x="5897880" y="4251960"/>
            <a:ext cx="201168" cy="201168"/>
          </a:xfrm>
          <a:prstGeom prst="ellipse">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6172200" y="4187952"/>
            <a:ext cx="7315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1000"/>
              <a:buFont typeface="Calibri"/>
              <a:buNone/>
            </a:pPr>
            <a:r>
              <a:rPr b="1" i="0" lang="en-US" sz="1000" u="none" cap="none" strike="noStrike">
                <a:solidFill>
                  <a:srgbClr val="1B2A4A"/>
                </a:solidFill>
                <a:latin typeface="Calibri"/>
                <a:ea typeface="Calibri"/>
                <a:cs typeface="Calibri"/>
                <a:sym typeface="Calibri"/>
              </a:rPr>
              <a:t>DS1–DS4</a:t>
            </a:r>
            <a:endParaRPr b="0" i="0" sz="1000" u="none" cap="none" strike="noStrike">
              <a:solidFill>
                <a:schemeClr val="dk1"/>
              </a:solidFill>
              <a:latin typeface="Calibri"/>
              <a:ea typeface="Calibri"/>
              <a:cs typeface="Calibri"/>
              <a:sym typeface="Calibri"/>
            </a:endParaRPr>
          </a:p>
        </p:txBody>
      </p:sp>
      <p:sp>
        <p:nvSpPr>
          <p:cNvPr id="167" name="Google Shape;167;p9"/>
          <p:cNvSpPr/>
          <p:nvPr/>
        </p:nvSpPr>
        <p:spPr>
          <a:xfrm>
            <a:off x="6931152" y="4187952"/>
            <a:ext cx="164592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000"/>
              <a:buFont typeface="Calibri"/>
              <a:buNone/>
            </a:pPr>
            <a:r>
              <a:rPr b="0" i="0" lang="en-US" sz="1000" u="none" cap="none" strike="noStrike">
                <a:solidFill>
                  <a:srgbClr val="4A5568"/>
                </a:solidFill>
                <a:latin typeface="Calibri"/>
                <a:ea typeface="Calibri"/>
                <a:cs typeface="Calibri"/>
                <a:sym typeface="Calibri"/>
              </a:rPr>
              <a:t>Status LEDs (R/G)</a:t>
            </a:r>
            <a:endParaRPr b="0" i="0" sz="1000" u="none" cap="none" strike="noStrike">
              <a:solidFill>
                <a:schemeClr val="dk1"/>
              </a:solidFill>
              <a:latin typeface="Calibri"/>
              <a:ea typeface="Calibri"/>
              <a:cs typeface="Calibri"/>
              <a:sym typeface="Calibri"/>
            </a:endParaRPr>
          </a:p>
        </p:txBody>
      </p:sp>
      <p:sp>
        <p:nvSpPr>
          <p:cNvPr id="168" name="Google Shape;168;p9"/>
          <p:cNvSpPr/>
          <p:nvPr/>
        </p:nvSpPr>
        <p:spPr>
          <a:xfrm>
            <a:off x="5760720" y="4663440"/>
            <a:ext cx="292608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AAAAA"/>
              </a:buClr>
              <a:buSzPts val="900"/>
              <a:buFont typeface="Calibri"/>
              <a:buNone/>
            </a:pPr>
            <a:r>
              <a:rPr b="0" i="1" lang="en-US" sz="900" u="none" cap="none" strike="noStrike">
                <a:solidFill>
                  <a:srgbClr val="AAAAAA"/>
                </a:solidFill>
                <a:latin typeface="Calibri"/>
                <a:ea typeface="Calibri"/>
                <a:cs typeface="Calibri"/>
                <a:sym typeface="Calibri"/>
              </a:rPr>
              <a:t>Designed in Altium Designer</a:t>
            </a:r>
            <a:endParaRPr b="0" i="0" sz="900" u="none" cap="none" strike="noStrike">
              <a:solidFill>
                <a:schemeClr val="dk1"/>
              </a:solidFill>
              <a:latin typeface="Calibri"/>
              <a:ea typeface="Calibri"/>
              <a:cs typeface="Calibri"/>
              <a:sym typeface="Calibri"/>
            </a:endParaRPr>
          </a:p>
        </p:txBody>
      </p:sp>
      <p:pic>
        <p:nvPicPr>
          <p:cNvPr id="169" name="Google Shape;169;p9"/>
          <p:cNvPicPr preferRelativeResize="0"/>
          <p:nvPr/>
        </p:nvPicPr>
        <p:blipFill>
          <a:blip r:embed="rId3">
            <a:alphaModFix/>
          </a:blip>
          <a:stretch>
            <a:fillRect/>
          </a:stretch>
        </p:blipFill>
        <p:spPr>
          <a:xfrm>
            <a:off x="174150" y="1004031"/>
            <a:ext cx="5455921" cy="3616425"/>
          </a:xfrm>
          <a:prstGeom prst="rect">
            <a:avLst/>
          </a:prstGeom>
          <a:noFill/>
          <a:ln>
            <a:noFill/>
          </a:ln>
        </p:spPr>
      </p:pic>
      <p:sp>
        <p:nvSpPr>
          <p:cNvPr id="170" name="Google Shape;170;p9"/>
          <p:cNvSpPr txBox="1"/>
          <p:nvPr/>
        </p:nvSpPr>
        <p:spPr>
          <a:xfrm>
            <a:off x="6033988" y="4412502"/>
            <a:ext cx="2178300" cy="2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     </a:t>
            </a:r>
            <a:r>
              <a:rPr b="1" lang="en-US" sz="1000">
                <a:solidFill>
                  <a:srgbClr val="1B2A4A"/>
                </a:solidFill>
                <a:latin typeface="Calibri"/>
                <a:ea typeface="Calibri"/>
                <a:cs typeface="Calibri"/>
                <a:sym typeface="Calibri"/>
              </a:rPr>
              <a:t>Y1  		  </a:t>
            </a:r>
            <a:r>
              <a:rPr lang="en-US" sz="1000">
                <a:solidFill>
                  <a:srgbClr val="4A5568"/>
                </a:solidFill>
                <a:latin typeface="Calibri"/>
                <a:ea typeface="Calibri"/>
                <a:cs typeface="Calibri"/>
                <a:sym typeface="Calibri"/>
              </a:rPr>
              <a:t>Oscillator</a:t>
            </a:r>
            <a:r>
              <a:rPr b="1" lang="en-US" sz="1000">
                <a:solidFill>
                  <a:srgbClr val="1B2A4A"/>
                </a:solidFill>
                <a:latin typeface="Calibri"/>
                <a:ea typeface="Calibri"/>
                <a:cs typeface="Calibri"/>
                <a:sym typeface="Calibri"/>
              </a:rPr>
              <a:t>  </a:t>
            </a:r>
            <a:endParaRPr/>
          </a:p>
        </p:txBody>
      </p:sp>
      <p:sp>
        <p:nvSpPr>
          <p:cNvPr id="171" name="Google Shape;171;p9"/>
          <p:cNvSpPr/>
          <p:nvPr/>
        </p:nvSpPr>
        <p:spPr>
          <a:xfrm>
            <a:off x="5897818" y="4538035"/>
            <a:ext cx="201300" cy="201300"/>
          </a:xfrm>
          <a:prstGeom prst="ellipse">
            <a:avLst/>
          </a:prstGeom>
          <a:solidFill>
            <a:srgbClr val="F5C5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f0326eaa19_0_3"/>
          <p:cNvSpPr/>
          <p:nvPr/>
        </p:nvSpPr>
        <p:spPr>
          <a:xfrm>
            <a:off x="274320" y="164592"/>
            <a:ext cx="85953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2600"/>
              <a:buFont typeface="Cambria"/>
              <a:buNone/>
            </a:pPr>
            <a:r>
              <a:rPr b="1" i="0" lang="en-US" sz="2600" u="none" cap="none" strike="noStrike">
                <a:solidFill>
                  <a:srgbClr val="1B2A4A"/>
                </a:solidFill>
                <a:latin typeface="Cambria"/>
                <a:ea typeface="Cambria"/>
                <a:cs typeface="Cambria"/>
                <a:sym typeface="Cambria"/>
              </a:rPr>
              <a:t>Bill of Materials (BOM)</a:t>
            </a:r>
            <a:endParaRPr b="0" i="0" sz="2600" u="none" cap="none" strike="noStrike">
              <a:solidFill>
                <a:srgbClr val="000000"/>
              </a:solidFill>
              <a:latin typeface="Calibri"/>
              <a:ea typeface="Calibri"/>
              <a:cs typeface="Calibri"/>
              <a:sym typeface="Calibri"/>
            </a:endParaRPr>
          </a:p>
        </p:txBody>
      </p:sp>
      <p:sp>
        <p:nvSpPr>
          <p:cNvPr id="178" name="Google Shape;178;g3f0326eaa19_0_3"/>
          <p:cNvSpPr/>
          <p:nvPr/>
        </p:nvSpPr>
        <p:spPr>
          <a:xfrm>
            <a:off x="274320" y="640080"/>
            <a:ext cx="85953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200"/>
              <a:buFont typeface="Calibri"/>
              <a:buNone/>
            </a:pPr>
            <a:r>
              <a:rPr b="0" i="0" lang="en-US" sz="1200" u="none" cap="none" strike="noStrike">
                <a:solidFill>
                  <a:srgbClr val="4A5568"/>
                </a:solidFill>
                <a:latin typeface="Calibri"/>
                <a:ea typeface="Calibri"/>
                <a:cs typeface="Calibri"/>
                <a:sym typeface="Calibri"/>
              </a:rPr>
              <a:t>Components for the custom PCB — pricing from Altium Designer / supplier quotes.</a:t>
            </a:r>
            <a:endParaRPr b="0" i="0" sz="1200" u="none" cap="none" strike="noStrike">
              <a:solidFill>
                <a:srgbClr val="000000"/>
              </a:solidFill>
              <a:latin typeface="Calibri"/>
              <a:ea typeface="Calibri"/>
              <a:cs typeface="Calibri"/>
              <a:sym typeface="Calibri"/>
            </a:endParaRPr>
          </a:p>
        </p:txBody>
      </p:sp>
      <p:sp>
        <p:nvSpPr>
          <p:cNvPr id="179" name="Google Shape;179;g3f0326eaa19_0_3"/>
          <p:cNvSpPr/>
          <p:nvPr/>
        </p:nvSpPr>
        <p:spPr>
          <a:xfrm>
            <a:off x="274320" y="1005840"/>
            <a:ext cx="255900" cy="31080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g3f0326eaa19_0_3"/>
          <p:cNvSpPr/>
          <p:nvPr/>
        </p:nvSpPr>
        <p:spPr>
          <a:xfrm>
            <a:off x="301752" y="1005840"/>
            <a:ext cx="2286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a:t>
            </a:r>
            <a:endParaRPr b="0" i="0" sz="800" u="none" cap="none" strike="noStrike">
              <a:solidFill>
                <a:srgbClr val="000000"/>
              </a:solidFill>
              <a:latin typeface="Calibri"/>
              <a:ea typeface="Calibri"/>
              <a:cs typeface="Calibri"/>
              <a:sym typeface="Calibri"/>
            </a:endParaRPr>
          </a:p>
        </p:txBody>
      </p:sp>
      <p:sp>
        <p:nvSpPr>
          <p:cNvPr id="181" name="Google Shape;181;g3f0326eaa19_0_3"/>
          <p:cNvSpPr/>
          <p:nvPr/>
        </p:nvSpPr>
        <p:spPr>
          <a:xfrm>
            <a:off x="557784" y="1005840"/>
            <a:ext cx="822900" cy="31080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3f0326eaa19_0_3"/>
          <p:cNvSpPr/>
          <p:nvPr/>
        </p:nvSpPr>
        <p:spPr>
          <a:xfrm>
            <a:off x="585216" y="1005840"/>
            <a:ext cx="7956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Designator</a:t>
            </a:r>
            <a:endParaRPr b="0" i="0" sz="800" u="none" cap="none" strike="noStrike">
              <a:solidFill>
                <a:srgbClr val="000000"/>
              </a:solidFill>
              <a:latin typeface="Calibri"/>
              <a:ea typeface="Calibri"/>
              <a:cs typeface="Calibri"/>
              <a:sym typeface="Calibri"/>
            </a:endParaRPr>
          </a:p>
        </p:txBody>
      </p:sp>
      <p:sp>
        <p:nvSpPr>
          <p:cNvPr id="183" name="Google Shape;183;g3f0326eaa19_0_3"/>
          <p:cNvSpPr/>
          <p:nvPr/>
        </p:nvSpPr>
        <p:spPr>
          <a:xfrm>
            <a:off x="1408176" y="1005840"/>
            <a:ext cx="1554600" cy="31080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3f0326eaa19_0_3"/>
          <p:cNvSpPr/>
          <p:nvPr/>
        </p:nvSpPr>
        <p:spPr>
          <a:xfrm>
            <a:off x="1435608" y="1005840"/>
            <a:ext cx="15270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Description</a:t>
            </a:r>
            <a:endParaRPr b="0" i="0" sz="800" u="none" cap="none" strike="noStrike">
              <a:solidFill>
                <a:srgbClr val="000000"/>
              </a:solidFill>
              <a:latin typeface="Calibri"/>
              <a:ea typeface="Calibri"/>
              <a:cs typeface="Calibri"/>
              <a:sym typeface="Calibri"/>
            </a:endParaRPr>
          </a:p>
        </p:txBody>
      </p:sp>
      <p:sp>
        <p:nvSpPr>
          <p:cNvPr id="185" name="Google Shape;185;g3f0326eaa19_0_3"/>
          <p:cNvSpPr/>
          <p:nvPr/>
        </p:nvSpPr>
        <p:spPr>
          <a:xfrm>
            <a:off x="2990088" y="1005840"/>
            <a:ext cx="1188600" cy="31080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f0326eaa19_0_3"/>
          <p:cNvSpPr/>
          <p:nvPr/>
        </p:nvSpPr>
        <p:spPr>
          <a:xfrm>
            <a:off x="3017520" y="1005840"/>
            <a:ext cx="11613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Manufacturer</a:t>
            </a:r>
            <a:endParaRPr b="0" i="0" sz="800" u="none" cap="none" strike="noStrike">
              <a:solidFill>
                <a:srgbClr val="000000"/>
              </a:solidFill>
              <a:latin typeface="Calibri"/>
              <a:ea typeface="Calibri"/>
              <a:cs typeface="Calibri"/>
              <a:sym typeface="Calibri"/>
            </a:endParaRPr>
          </a:p>
        </p:txBody>
      </p:sp>
      <p:sp>
        <p:nvSpPr>
          <p:cNvPr id="187" name="Google Shape;187;g3f0326eaa19_0_3"/>
          <p:cNvSpPr/>
          <p:nvPr/>
        </p:nvSpPr>
        <p:spPr>
          <a:xfrm>
            <a:off x="4206240" y="1005840"/>
            <a:ext cx="1508700" cy="31080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g3f0326eaa19_0_3"/>
          <p:cNvSpPr/>
          <p:nvPr/>
        </p:nvSpPr>
        <p:spPr>
          <a:xfrm>
            <a:off x="4233672" y="1005840"/>
            <a:ext cx="14814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Part Number</a:t>
            </a:r>
            <a:endParaRPr b="0" i="0" sz="800" u="none" cap="none" strike="noStrike">
              <a:solidFill>
                <a:srgbClr val="000000"/>
              </a:solidFill>
              <a:latin typeface="Calibri"/>
              <a:ea typeface="Calibri"/>
              <a:cs typeface="Calibri"/>
              <a:sym typeface="Calibri"/>
            </a:endParaRPr>
          </a:p>
        </p:txBody>
      </p:sp>
      <p:sp>
        <p:nvSpPr>
          <p:cNvPr id="189" name="Google Shape;189;g3f0326eaa19_0_3"/>
          <p:cNvSpPr/>
          <p:nvPr/>
        </p:nvSpPr>
        <p:spPr>
          <a:xfrm>
            <a:off x="5742432" y="1005840"/>
            <a:ext cx="365700" cy="31080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g3f0326eaa19_0_3"/>
          <p:cNvSpPr/>
          <p:nvPr/>
        </p:nvSpPr>
        <p:spPr>
          <a:xfrm>
            <a:off x="5769864" y="1005840"/>
            <a:ext cx="3384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Qty</a:t>
            </a:r>
            <a:endParaRPr b="0" i="0" sz="800" u="none" cap="none" strike="noStrike">
              <a:solidFill>
                <a:srgbClr val="000000"/>
              </a:solidFill>
              <a:latin typeface="Calibri"/>
              <a:ea typeface="Calibri"/>
              <a:cs typeface="Calibri"/>
              <a:sym typeface="Calibri"/>
            </a:endParaRPr>
          </a:p>
        </p:txBody>
      </p:sp>
      <p:sp>
        <p:nvSpPr>
          <p:cNvPr id="191" name="Google Shape;191;g3f0326eaa19_0_3"/>
          <p:cNvSpPr/>
          <p:nvPr/>
        </p:nvSpPr>
        <p:spPr>
          <a:xfrm>
            <a:off x="6135624" y="1005840"/>
            <a:ext cx="777300" cy="31080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3f0326eaa19_0_3"/>
          <p:cNvSpPr/>
          <p:nvPr/>
        </p:nvSpPr>
        <p:spPr>
          <a:xfrm>
            <a:off x="6163056" y="1005840"/>
            <a:ext cx="7497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Supplier</a:t>
            </a:r>
            <a:endParaRPr b="0" i="0" sz="800" u="none" cap="none" strike="noStrike">
              <a:solidFill>
                <a:srgbClr val="000000"/>
              </a:solidFill>
              <a:latin typeface="Calibri"/>
              <a:ea typeface="Calibri"/>
              <a:cs typeface="Calibri"/>
              <a:sym typeface="Calibri"/>
            </a:endParaRPr>
          </a:p>
        </p:txBody>
      </p:sp>
      <p:sp>
        <p:nvSpPr>
          <p:cNvPr id="193" name="Google Shape;193;g3f0326eaa19_0_3"/>
          <p:cNvSpPr/>
          <p:nvPr/>
        </p:nvSpPr>
        <p:spPr>
          <a:xfrm>
            <a:off x="6940296" y="1005840"/>
            <a:ext cx="594300" cy="31080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3f0326eaa19_0_3"/>
          <p:cNvSpPr/>
          <p:nvPr/>
        </p:nvSpPr>
        <p:spPr>
          <a:xfrm>
            <a:off x="6967728" y="1005840"/>
            <a:ext cx="5670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Unit €</a:t>
            </a:r>
            <a:endParaRPr b="0" i="0" sz="800" u="none" cap="none" strike="noStrike">
              <a:solidFill>
                <a:srgbClr val="000000"/>
              </a:solidFill>
              <a:latin typeface="Calibri"/>
              <a:ea typeface="Calibri"/>
              <a:cs typeface="Calibri"/>
              <a:sym typeface="Calibri"/>
            </a:endParaRPr>
          </a:p>
        </p:txBody>
      </p:sp>
      <p:sp>
        <p:nvSpPr>
          <p:cNvPr id="195" name="Google Shape;195;g3f0326eaa19_0_3"/>
          <p:cNvSpPr/>
          <p:nvPr/>
        </p:nvSpPr>
        <p:spPr>
          <a:xfrm>
            <a:off x="7562088" y="1005840"/>
            <a:ext cx="658500" cy="31080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3f0326eaa19_0_3"/>
          <p:cNvSpPr/>
          <p:nvPr/>
        </p:nvSpPr>
        <p:spPr>
          <a:xfrm>
            <a:off x="7589520" y="1005840"/>
            <a:ext cx="6309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Total €</a:t>
            </a:r>
            <a:endParaRPr b="0" i="0" sz="800" u="none" cap="none" strike="noStrike">
              <a:solidFill>
                <a:srgbClr val="000000"/>
              </a:solidFill>
              <a:latin typeface="Calibri"/>
              <a:ea typeface="Calibri"/>
              <a:cs typeface="Calibri"/>
              <a:sym typeface="Calibri"/>
            </a:endParaRPr>
          </a:p>
        </p:txBody>
      </p:sp>
      <p:sp>
        <p:nvSpPr>
          <p:cNvPr id="197" name="Google Shape;197;g3f0326eaa19_0_3"/>
          <p:cNvSpPr/>
          <p:nvPr/>
        </p:nvSpPr>
        <p:spPr>
          <a:xfrm>
            <a:off x="274320" y="1316736"/>
            <a:ext cx="7973700" cy="301800"/>
          </a:xfrm>
          <a:prstGeom prst="rect">
            <a:avLst/>
          </a:prstGeom>
          <a:solidFill>
            <a:srgbClr val="F4F6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f0326eaa19_0_3"/>
          <p:cNvSpPr/>
          <p:nvPr/>
        </p:nvSpPr>
        <p:spPr>
          <a:xfrm>
            <a:off x="301752" y="1316736"/>
            <a:ext cx="228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1</a:t>
            </a:r>
            <a:endParaRPr b="0" i="0" sz="800" u="none" cap="none" strike="noStrike">
              <a:solidFill>
                <a:srgbClr val="000000"/>
              </a:solidFill>
              <a:latin typeface="Calibri"/>
              <a:ea typeface="Calibri"/>
              <a:cs typeface="Calibri"/>
              <a:sym typeface="Calibri"/>
            </a:endParaRPr>
          </a:p>
        </p:txBody>
      </p:sp>
      <p:sp>
        <p:nvSpPr>
          <p:cNvPr id="199" name="Google Shape;199;g3f0326eaa19_0_3"/>
          <p:cNvSpPr/>
          <p:nvPr/>
        </p:nvSpPr>
        <p:spPr>
          <a:xfrm>
            <a:off x="585216" y="1316736"/>
            <a:ext cx="795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C1</a:t>
            </a:r>
            <a:endParaRPr b="0" i="0" sz="800" u="none" cap="none" strike="noStrike">
              <a:solidFill>
                <a:srgbClr val="000000"/>
              </a:solidFill>
              <a:latin typeface="Calibri"/>
              <a:ea typeface="Calibri"/>
              <a:cs typeface="Calibri"/>
              <a:sym typeface="Calibri"/>
            </a:endParaRPr>
          </a:p>
        </p:txBody>
      </p:sp>
      <p:sp>
        <p:nvSpPr>
          <p:cNvPr id="200" name="Google Shape;200;g3f0326eaa19_0_3"/>
          <p:cNvSpPr/>
          <p:nvPr/>
        </p:nvSpPr>
        <p:spPr>
          <a:xfrm>
            <a:off x="1435608" y="1316736"/>
            <a:ext cx="15270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Chip Cap 100nF 50V</a:t>
            </a:r>
            <a:endParaRPr b="0" i="0" sz="800" u="none" cap="none" strike="noStrike">
              <a:solidFill>
                <a:srgbClr val="000000"/>
              </a:solidFill>
              <a:latin typeface="Calibri"/>
              <a:ea typeface="Calibri"/>
              <a:cs typeface="Calibri"/>
              <a:sym typeface="Calibri"/>
            </a:endParaRPr>
          </a:p>
        </p:txBody>
      </p:sp>
      <p:sp>
        <p:nvSpPr>
          <p:cNvPr id="201" name="Google Shape;201;g3f0326eaa19_0_3"/>
          <p:cNvSpPr/>
          <p:nvPr/>
        </p:nvSpPr>
        <p:spPr>
          <a:xfrm>
            <a:off x="3017520" y="1316736"/>
            <a:ext cx="11613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TDK</a:t>
            </a:r>
            <a:endParaRPr b="0" i="0" sz="800" u="none" cap="none" strike="noStrike">
              <a:solidFill>
                <a:srgbClr val="000000"/>
              </a:solidFill>
              <a:latin typeface="Calibri"/>
              <a:ea typeface="Calibri"/>
              <a:cs typeface="Calibri"/>
              <a:sym typeface="Calibri"/>
            </a:endParaRPr>
          </a:p>
        </p:txBody>
      </p:sp>
      <p:sp>
        <p:nvSpPr>
          <p:cNvPr id="202" name="Google Shape;202;g3f0326eaa19_0_3"/>
          <p:cNvSpPr/>
          <p:nvPr/>
        </p:nvSpPr>
        <p:spPr>
          <a:xfrm>
            <a:off x="4233672" y="1316736"/>
            <a:ext cx="1481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C2012X5R1E106K085AC</a:t>
            </a:r>
            <a:endParaRPr b="0" i="0" sz="800" u="none" cap="none" strike="noStrike">
              <a:solidFill>
                <a:srgbClr val="000000"/>
              </a:solidFill>
              <a:latin typeface="Calibri"/>
              <a:ea typeface="Calibri"/>
              <a:cs typeface="Calibri"/>
              <a:sym typeface="Calibri"/>
            </a:endParaRPr>
          </a:p>
        </p:txBody>
      </p:sp>
      <p:sp>
        <p:nvSpPr>
          <p:cNvPr id="203" name="Google Shape;203;g3f0326eaa19_0_3"/>
          <p:cNvSpPr/>
          <p:nvPr/>
        </p:nvSpPr>
        <p:spPr>
          <a:xfrm>
            <a:off x="5769864" y="1316736"/>
            <a:ext cx="338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1</a:t>
            </a:r>
            <a:endParaRPr b="0" i="0" sz="800" u="none" cap="none" strike="noStrike">
              <a:solidFill>
                <a:srgbClr val="000000"/>
              </a:solidFill>
              <a:latin typeface="Calibri"/>
              <a:ea typeface="Calibri"/>
              <a:cs typeface="Calibri"/>
              <a:sym typeface="Calibri"/>
            </a:endParaRPr>
          </a:p>
        </p:txBody>
      </p:sp>
      <p:sp>
        <p:nvSpPr>
          <p:cNvPr id="204" name="Google Shape;204;g3f0326eaa19_0_3"/>
          <p:cNvSpPr/>
          <p:nvPr/>
        </p:nvSpPr>
        <p:spPr>
          <a:xfrm>
            <a:off x="6163056" y="1316736"/>
            <a:ext cx="7497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Arrow</a:t>
            </a:r>
            <a:endParaRPr b="0" i="0" sz="800" u="none" cap="none" strike="noStrike">
              <a:solidFill>
                <a:srgbClr val="000000"/>
              </a:solidFill>
              <a:latin typeface="Calibri"/>
              <a:ea typeface="Calibri"/>
              <a:cs typeface="Calibri"/>
              <a:sym typeface="Calibri"/>
            </a:endParaRPr>
          </a:p>
        </p:txBody>
      </p:sp>
      <p:sp>
        <p:nvSpPr>
          <p:cNvPr id="205" name="Google Shape;205;g3f0326eaa19_0_3"/>
          <p:cNvSpPr/>
          <p:nvPr/>
        </p:nvSpPr>
        <p:spPr>
          <a:xfrm>
            <a:off x="6967728" y="1316736"/>
            <a:ext cx="5670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0.20</a:t>
            </a:r>
            <a:endParaRPr b="0" i="0" sz="800" u="none" cap="none" strike="noStrike">
              <a:solidFill>
                <a:srgbClr val="000000"/>
              </a:solidFill>
              <a:latin typeface="Calibri"/>
              <a:ea typeface="Calibri"/>
              <a:cs typeface="Calibri"/>
              <a:sym typeface="Calibri"/>
            </a:endParaRPr>
          </a:p>
        </p:txBody>
      </p:sp>
      <p:sp>
        <p:nvSpPr>
          <p:cNvPr id="206" name="Google Shape;206;g3f0326eaa19_0_3"/>
          <p:cNvSpPr/>
          <p:nvPr/>
        </p:nvSpPr>
        <p:spPr>
          <a:xfrm>
            <a:off x="7589520" y="1316736"/>
            <a:ext cx="6309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0.20</a:t>
            </a:r>
            <a:endParaRPr b="0" i="0" sz="800" u="none" cap="none" strike="noStrike">
              <a:solidFill>
                <a:srgbClr val="000000"/>
              </a:solidFill>
              <a:latin typeface="Calibri"/>
              <a:ea typeface="Calibri"/>
              <a:cs typeface="Calibri"/>
              <a:sym typeface="Calibri"/>
            </a:endParaRPr>
          </a:p>
        </p:txBody>
      </p:sp>
      <p:sp>
        <p:nvSpPr>
          <p:cNvPr id="207" name="Google Shape;207;g3f0326eaa19_0_3"/>
          <p:cNvSpPr/>
          <p:nvPr/>
        </p:nvSpPr>
        <p:spPr>
          <a:xfrm>
            <a:off x="274320" y="1618488"/>
            <a:ext cx="7973700" cy="3018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g3f0326eaa19_0_3"/>
          <p:cNvSpPr/>
          <p:nvPr/>
        </p:nvSpPr>
        <p:spPr>
          <a:xfrm>
            <a:off x="301752" y="1618488"/>
            <a:ext cx="228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2</a:t>
            </a:r>
            <a:endParaRPr b="0" i="0" sz="800" u="none" cap="none" strike="noStrike">
              <a:solidFill>
                <a:srgbClr val="000000"/>
              </a:solidFill>
              <a:latin typeface="Calibri"/>
              <a:ea typeface="Calibri"/>
              <a:cs typeface="Calibri"/>
              <a:sym typeface="Calibri"/>
            </a:endParaRPr>
          </a:p>
        </p:txBody>
      </p:sp>
      <p:sp>
        <p:nvSpPr>
          <p:cNvPr id="209" name="Google Shape;209;g3f0326eaa19_0_3"/>
          <p:cNvSpPr/>
          <p:nvPr/>
        </p:nvSpPr>
        <p:spPr>
          <a:xfrm>
            <a:off x="585216" y="1618488"/>
            <a:ext cx="795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C2</a:t>
            </a:r>
            <a:r>
              <a:rPr lang="en-US" sz="800">
                <a:solidFill>
                  <a:srgbClr val="1B2A4A"/>
                </a:solidFill>
                <a:latin typeface="Calibri"/>
                <a:ea typeface="Calibri"/>
                <a:cs typeface="Calibri"/>
                <a:sym typeface="Calibri"/>
              </a:rPr>
              <a:t>-C7</a:t>
            </a:r>
            <a:endParaRPr b="0" i="0" sz="800" u="none" cap="none" strike="noStrike">
              <a:solidFill>
                <a:srgbClr val="000000"/>
              </a:solidFill>
              <a:latin typeface="Calibri"/>
              <a:ea typeface="Calibri"/>
              <a:cs typeface="Calibri"/>
              <a:sym typeface="Calibri"/>
            </a:endParaRPr>
          </a:p>
        </p:txBody>
      </p:sp>
      <p:sp>
        <p:nvSpPr>
          <p:cNvPr id="210" name="Google Shape;210;g3f0326eaa19_0_3"/>
          <p:cNvSpPr/>
          <p:nvPr/>
        </p:nvSpPr>
        <p:spPr>
          <a:xfrm>
            <a:off x="1435608" y="1618488"/>
            <a:ext cx="15270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Chip Cap 100nF 50V</a:t>
            </a:r>
            <a:endParaRPr b="0" i="0" sz="800" u="none" cap="none" strike="noStrike">
              <a:solidFill>
                <a:srgbClr val="000000"/>
              </a:solidFill>
              <a:latin typeface="Calibri"/>
              <a:ea typeface="Calibri"/>
              <a:cs typeface="Calibri"/>
              <a:sym typeface="Calibri"/>
            </a:endParaRPr>
          </a:p>
        </p:txBody>
      </p:sp>
      <p:sp>
        <p:nvSpPr>
          <p:cNvPr id="211" name="Google Shape;211;g3f0326eaa19_0_3"/>
          <p:cNvSpPr/>
          <p:nvPr/>
        </p:nvSpPr>
        <p:spPr>
          <a:xfrm>
            <a:off x="3017520" y="1618488"/>
            <a:ext cx="11613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KYOCERA AVX</a:t>
            </a:r>
            <a:endParaRPr b="0" i="0" sz="800" u="none" cap="none" strike="noStrike">
              <a:solidFill>
                <a:srgbClr val="000000"/>
              </a:solidFill>
              <a:latin typeface="Calibri"/>
              <a:ea typeface="Calibri"/>
              <a:cs typeface="Calibri"/>
              <a:sym typeface="Calibri"/>
            </a:endParaRPr>
          </a:p>
        </p:txBody>
      </p:sp>
      <p:sp>
        <p:nvSpPr>
          <p:cNvPr id="212" name="Google Shape;212;g3f0326eaa19_0_3"/>
          <p:cNvSpPr/>
          <p:nvPr/>
        </p:nvSpPr>
        <p:spPr>
          <a:xfrm>
            <a:off x="4233672" y="1618488"/>
            <a:ext cx="1481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0402ZD104KAT4A</a:t>
            </a:r>
            <a:endParaRPr b="0" i="0" sz="800" u="none" cap="none" strike="noStrike">
              <a:solidFill>
                <a:srgbClr val="000000"/>
              </a:solidFill>
              <a:latin typeface="Calibri"/>
              <a:ea typeface="Calibri"/>
              <a:cs typeface="Calibri"/>
              <a:sym typeface="Calibri"/>
            </a:endParaRPr>
          </a:p>
        </p:txBody>
      </p:sp>
      <p:sp>
        <p:nvSpPr>
          <p:cNvPr id="213" name="Google Shape;213;g3f0326eaa19_0_3"/>
          <p:cNvSpPr/>
          <p:nvPr/>
        </p:nvSpPr>
        <p:spPr>
          <a:xfrm>
            <a:off x="5769864" y="1618488"/>
            <a:ext cx="338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6</a:t>
            </a:r>
            <a:endParaRPr b="0" i="0" sz="800" u="none" cap="none" strike="noStrike">
              <a:solidFill>
                <a:srgbClr val="000000"/>
              </a:solidFill>
              <a:latin typeface="Calibri"/>
              <a:ea typeface="Calibri"/>
              <a:cs typeface="Calibri"/>
              <a:sym typeface="Calibri"/>
            </a:endParaRPr>
          </a:p>
        </p:txBody>
      </p:sp>
      <p:sp>
        <p:nvSpPr>
          <p:cNvPr id="214" name="Google Shape;214;g3f0326eaa19_0_3"/>
          <p:cNvSpPr/>
          <p:nvPr/>
        </p:nvSpPr>
        <p:spPr>
          <a:xfrm>
            <a:off x="6163056" y="1618488"/>
            <a:ext cx="7497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Newark</a:t>
            </a:r>
            <a:endParaRPr b="0" i="0" sz="800" u="none" cap="none" strike="noStrike">
              <a:solidFill>
                <a:srgbClr val="000000"/>
              </a:solidFill>
              <a:latin typeface="Calibri"/>
              <a:ea typeface="Calibri"/>
              <a:cs typeface="Calibri"/>
              <a:sym typeface="Calibri"/>
            </a:endParaRPr>
          </a:p>
        </p:txBody>
      </p:sp>
      <p:sp>
        <p:nvSpPr>
          <p:cNvPr id="215" name="Google Shape;215;g3f0326eaa19_0_3"/>
          <p:cNvSpPr/>
          <p:nvPr/>
        </p:nvSpPr>
        <p:spPr>
          <a:xfrm>
            <a:off x="6967728" y="1618488"/>
            <a:ext cx="5670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0.003</a:t>
            </a:r>
            <a:endParaRPr b="0" i="0" sz="800" u="none" cap="none" strike="noStrike">
              <a:solidFill>
                <a:srgbClr val="000000"/>
              </a:solidFill>
              <a:latin typeface="Calibri"/>
              <a:ea typeface="Calibri"/>
              <a:cs typeface="Calibri"/>
              <a:sym typeface="Calibri"/>
            </a:endParaRPr>
          </a:p>
        </p:txBody>
      </p:sp>
      <p:sp>
        <p:nvSpPr>
          <p:cNvPr id="216" name="Google Shape;216;g3f0326eaa19_0_3"/>
          <p:cNvSpPr/>
          <p:nvPr/>
        </p:nvSpPr>
        <p:spPr>
          <a:xfrm>
            <a:off x="7589520" y="1618488"/>
            <a:ext cx="6309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0.02</a:t>
            </a:r>
            <a:endParaRPr b="0" i="0" sz="800" u="none" cap="none" strike="noStrike">
              <a:solidFill>
                <a:srgbClr val="000000"/>
              </a:solidFill>
              <a:latin typeface="Calibri"/>
              <a:ea typeface="Calibri"/>
              <a:cs typeface="Calibri"/>
              <a:sym typeface="Calibri"/>
            </a:endParaRPr>
          </a:p>
        </p:txBody>
      </p:sp>
      <p:sp>
        <p:nvSpPr>
          <p:cNvPr id="217" name="Google Shape;217;g3f0326eaa19_0_3"/>
          <p:cNvSpPr/>
          <p:nvPr/>
        </p:nvSpPr>
        <p:spPr>
          <a:xfrm>
            <a:off x="274320" y="1920240"/>
            <a:ext cx="7973700" cy="301800"/>
          </a:xfrm>
          <a:prstGeom prst="rect">
            <a:avLst/>
          </a:prstGeom>
          <a:solidFill>
            <a:srgbClr val="F4F6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g3f0326eaa19_0_3"/>
          <p:cNvSpPr/>
          <p:nvPr/>
        </p:nvSpPr>
        <p:spPr>
          <a:xfrm>
            <a:off x="301752" y="1920240"/>
            <a:ext cx="228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3</a:t>
            </a:r>
            <a:endParaRPr b="0" i="0" sz="800" u="none" cap="none" strike="noStrike">
              <a:solidFill>
                <a:srgbClr val="000000"/>
              </a:solidFill>
              <a:latin typeface="Calibri"/>
              <a:ea typeface="Calibri"/>
              <a:cs typeface="Calibri"/>
              <a:sym typeface="Calibri"/>
            </a:endParaRPr>
          </a:p>
        </p:txBody>
      </p:sp>
      <p:sp>
        <p:nvSpPr>
          <p:cNvPr id="219" name="Google Shape;219;g3f0326eaa19_0_3"/>
          <p:cNvSpPr/>
          <p:nvPr/>
        </p:nvSpPr>
        <p:spPr>
          <a:xfrm>
            <a:off x="585216" y="1920240"/>
            <a:ext cx="795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DS1, DS4</a:t>
            </a:r>
            <a:endParaRPr b="0" i="0" sz="800" u="none" cap="none" strike="noStrike">
              <a:solidFill>
                <a:srgbClr val="000000"/>
              </a:solidFill>
              <a:latin typeface="Calibri"/>
              <a:ea typeface="Calibri"/>
              <a:cs typeface="Calibri"/>
              <a:sym typeface="Calibri"/>
            </a:endParaRPr>
          </a:p>
        </p:txBody>
      </p:sp>
      <p:sp>
        <p:nvSpPr>
          <p:cNvPr id="220" name="Google Shape;220;g3f0326eaa19_0_3"/>
          <p:cNvSpPr/>
          <p:nvPr/>
        </p:nvSpPr>
        <p:spPr>
          <a:xfrm>
            <a:off x="1435608" y="1920240"/>
            <a:ext cx="15270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Red LED 0805</a:t>
            </a:r>
            <a:endParaRPr b="0" i="0" sz="800" u="none" cap="none" strike="noStrike">
              <a:solidFill>
                <a:srgbClr val="000000"/>
              </a:solidFill>
              <a:latin typeface="Calibri"/>
              <a:ea typeface="Calibri"/>
              <a:cs typeface="Calibri"/>
              <a:sym typeface="Calibri"/>
            </a:endParaRPr>
          </a:p>
        </p:txBody>
      </p:sp>
      <p:sp>
        <p:nvSpPr>
          <p:cNvPr id="221" name="Google Shape;221;g3f0326eaa19_0_3"/>
          <p:cNvSpPr/>
          <p:nvPr/>
        </p:nvSpPr>
        <p:spPr>
          <a:xfrm>
            <a:off x="3017520" y="1920240"/>
            <a:ext cx="11613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Würth</a:t>
            </a:r>
            <a:endParaRPr b="0" i="0" sz="800" u="none" cap="none" strike="noStrike">
              <a:solidFill>
                <a:srgbClr val="000000"/>
              </a:solidFill>
              <a:latin typeface="Calibri"/>
              <a:ea typeface="Calibri"/>
              <a:cs typeface="Calibri"/>
              <a:sym typeface="Calibri"/>
            </a:endParaRPr>
          </a:p>
        </p:txBody>
      </p:sp>
      <p:sp>
        <p:nvSpPr>
          <p:cNvPr id="222" name="Google Shape;222;g3f0326eaa19_0_3"/>
          <p:cNvSpPr/>
          <p:nvPr/>
        </p:nvSpPr>
        <p:spPr>
          <a:xfrm>
            <a:off x="4233672" y="1920240"/>
            <a:ext cx="1481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150080RS75000</a:t>
            </a:r>
            <a:endParaRPr b="0" i="0" sz="800" u="none" cap="none" strike="noStrike">
              <a:solidFill>
                <a:srgbClr val="000000"/>
              </a:solidFill>
              <a:latin typeface="Calibri"/>
              <a:ea typeface="Calibri"/>
              <a:cs typeface="Calibri"/>
              <a:sym typeface="Calibri"/>
            </a:endParaRPr>
          </a:p>
        </p:txBody>
      </p:sp>
      <p:sp>
        <p:nvSpPr>
          <p:cNvPr id="223" name="Google Shape;223;g3f0326eaa19_0_3"/>
          <p:cNvSpPr/>
          <p:nvPr/>
        </p:nvSpPr>
        <p:spPr>
          <a:xfrm>
            <a:off x="5769864" y="1920240"/>
            <a:ext cx="338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2</a:t>
            </a:r>
            <a:endParaRPr b="0" i="0" sz="800" u="none" cap="none" strike="noStrike">
              <a:solidFill>
                <a:srgbClr val="000000"/>
              </a:solidFill>
              <a:latin typeface="Calibri"/>
              <a:ea typeface="Calibri"/>
              <a:cs typeface="Calibri"/>
              <a:sym typeface="Calibri"/>
            </a:endParaRPr>
          </a:p>
        </p:txBody>
      </p:sp>
      <p:sp>
        <p:nvSpPr>
          <p:cNvPr id="224" name="Google Shape;224;g3f0326eaa19_0_3"/>
          <p:cNvSpPr/>
          <p:nvPr/>
        </p:nvSpPr>
        <p:spPr>
          <a:xfrm>
            <a:off x="6163056" y="1920240"/>
            <a:ext cx="7497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Mouser</a:t>
            </a:r>
            <a:endParaRPr b="0" i="0" sz="800" u="none" cap="none" strike="noStrike">
              <a:solidFill>
                <a:srgbClr val="000000"/>
              </a:solidFill>
              <a:latin typeface="Calibri"/>
              <a:ea typeface="Calibri"/>
              <a:cs typeface="Calibri"/>
              <a:sym typeface="Calibri"/>
            </a:endParaRPr>
          </a:p>
        </p:txBody>
      </p:sp>
      <p:sp>
        <p:nvSpPr>
          <p:cNvPr id="225" name="Google Shape;225;g3f0326eaa19_0_3"/>
          <p:cNvSpPr/>
          <p:nvPr/>
        </p:nvSpPr>
        <p:spPr>
          <a:xfrm>
            <a:off x="6967728" y="1920240"/>
            <a:ext cx="5670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0.16</a:t>
            </a:r>
            <a:endParaRPr b="0" i="0" sz="800" u="none" cap="none" strike="noStrike">
              <a:solidFill>
                <a:srgbClr val="000000"/>
              </a:solidFill>
              <a:latin typeface="Calibri"/>
              <a:ea typeface="Calibri"/>
              <a:cs typeface="Calibri"/>
              <a:sym typeface="Calibri"/>
            </a:endParaRPr>
          </a:p>
        </p:txBody>
      </p:sp>
      <p:sp>
        <p:nvSpPr>
          <p:cNvPr id="226" name="Google Shape;226;g3f0326eaa19_0_3"/>
          <p:cNvSpPr/>
          <p:nvPr/>
        </p:nvSpPr>
        <p:spPr>
          <a:xfrm>
            <a:off x="7589520" y="1920240"/>
            <a:ext cx="6309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0.32</a:t>
            </a:r>
            <a:endParaRPr b="0" i="0" sz="800" u="none" cap="none" strike="noStrike">
              <a:solidFill>
                <a:srgbClr val="000000"/>
              </a:solidFill>
              <a:latin typeface="Calibri"/>
              <a:ea typeface="Calibri"/>
              <a:cs typeface="Calibri"/>
              <a:sym typeface="Calibri"/>
            </a:endParaRPr>
          </a:p>
        </p:txBody>
      </p:sp>
      <p:sp>
        <p:nvSpPr>
          <p:cNvPr id="227" name="Google Shape;227;g3f0326eaa19_0_3"/>
          <p:cNvSpPr/>
          <p:nvPr/>
        </p:nvSpPr>
        <p:spPr>
          <a:xfrm>
            <a:off x="274320" y="2221992"/>
            <a:ext cx="7973700" cy="3018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g3f0326eaa19_0_3"/>
          <p:cNvSpPr/>
          <p:nvPr/>
        </p:nvSpPr>
        <p:spPr>
          <a:xfrm>
            <a:off x="301752" y="2221992"/>
            <a:ext cx="228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4</a:t>
            </a:r>
            <a:endParaRPr b="0" i="0" sz="800" u="none" cap="none" strike="noStrike">
              <a:solidFill>
                <a:srgbClr val="000000"/>
              </a:solidFill>
              <a:latin typeface="Calibri"/>
              <a:ea typeface="Calibri"/>
              <a:cs typeface="Calibri"/>
              <a:sym typeface="Calibri"/>
            </a:endParaRPr>
          </a:p>
        </p:txBody>
      </p:sp>
      <p:sp>
        <p:nvSpPr>
          <p:cNvPr id="229" name="Google Shape;229;g3f0326eaa19_0_3"/>
          <p:cNvSpPr/>
          <p:nvPr/>
        </p:nvSpPr>
        <p:spPr>
          <a:xfrm>
            <a:off x="585216" y="2221992"/>
            <a:ext cx="795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DS2, DS3</a:t>
            </a:r>
            <a:endParaRPr b="0" i="0" sz="800" u="none" cap="none" strike="noStrike">
              <a:solidFill>
                <a:srgbClr val="000000"/>
              </a:solidFill>
              <a:latin typeface="Calibri"/>
              <a:ea typeface="Calibri"/>
              <a:cs typeface="Calibri"/>
              <a:sym typeface="Calibri"/>
            </a:endParaRPr>
          </a:p>
        </p:txBody>
      </p:sp>
      <p:sp>
        <p:nvSpPr>
          <p:cNvPr id="230" name="Google Shape;230;g3f0326eaa19_0_3"/>
          <p:cNvSpPr/>
          <p:nvPr/>
        </p:nvSpPr>
        <p:spPr>
          <a:xfrm>
            <a:off x="1435608" y="2221992"/>
            <a:ext cx="15270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Green LED 0805</a:t>
            </a:r>
            <a:endParaRPr b="0" i="0" sz="800" u="none" cap="none" strike="noStrike">
              <a:solidFill>
                <a:srgbClr val="000000"/>
              </a:solidFill>
              <a:latin typeface="Calibri"/>
              <a:ea typeface="Calibri"/>
              <a:cs typeface="Calibri"/>
              <a:sym typeface="Calibri"/>
            </a:endParaRPr>
          </a:p>
        </p:txBody>
      </p:sp>
      <p:sp>
        <p:nvSpPr>
          <p:cNvPr id="231" name="Google Shape;231;g3f0326eaa19_0_3"/>
          <p:cNvSpPr/>
          <p:nvPr/>
        </p:nvSpPr>
        <p:spPr>
          <a:xfrm>
            <a:off x="3017520" y="2221992"/>
            <a:ext cx="11613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Würth</a:t>
            </a:r>
            <a:endParaRPr b="0" i="0" sz="800" u="none" cap="none" strike="noStrike">
              <a:solidFill>
                <a:srgbClr val="000000"/>
              </a:solidFill>
              <a:latin typeface="Calibri"/>
              <a:ea typeface="Calibri"/>
              <a:cs typeface="Calibri"/>
              <a:sym typeface="Calibri"/>
            </a:endParaRPr>
          </a:p>
        </p:txBody>
      </p:sp>
      <p:sp>
        <p:nvSpPr>
          <p:cNvPr id="232" name="Google Shape;232;g3f0326eaa19_0_3"/>
          <p:cNvSpPr/>
          <p:nvPr/>
        </p:nvSpPr>
        <p:spPr>
          <a:xfrm>
            <a:off x="4233672" y="2221992"/>
            <a:ext cx="1481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150080GS75000</a:t>
            </a:r>
            <a:endParaRPr b="0" i="0" sz="800" u="none" cap="none" strike="noStrike">
              <a:solidFill>
                <a:srgbClr val="000000"/>
              </a:solidFill>
              <a:latin typeface="Calibri"/>
              <a:ea typeface="Calibri"/>
              <a:cs typeface="Calibri"/>
              <a:sym typeface="Calibri"/>
            </a:endParaRPr>
          </a:p>
        </p:txBody>
      </p:sp>
      <p:sp>
        <p:nvSpPr>
          <p:cNvPr id="233" name="Google Shape;233;g3f0326eaa19_0_3"/>
          <p:cNvSpPr/>
          <p:nvPr/>
        </p:nvSpPr>
        <p:spPr>
          <a:xfrm>
            <a:off x="5769864" y="2221992"/>
            <a:ext cx="338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2</a:t>
            </a:r>
            <a:endParaRPr b="0" i="0" sz="800" u="none" cap="none" strike="noStrike">
              <a:solidFill>
                <a:srgbClr val="000000"/>
              </a:solidFill>
              <a:latin typeface="Calibri"/>
              <a:ea typeface="Calibri"/>
              <a:cs typeface="Calibri"/>
              <a:sym typeface="Calibri"/>
            </a:endParaRPr>
          </a:p>
        </p:txBody>
      </p:sp>
      <p:sp>
        <p:nvSpPr>
          <p:cNvPr id="234" name="Google Shape;234;g3f0326eaa19_0_3"/>
          <p:cNvSpPr/>
          <p:nvPr/>
        </p:nvSpPr>
        <p:spPr>
          <a:xfrm>
            <a:off x="6163056" y="2221992"/>
            <a:ext cx="7497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Mouser</a:t>
            </a:r>
            <a:endParaRPr b="0" i="0" sz="800" u="none" cap="none" strike="noStrike">
              <a:solidFill>
                <a:srgbClr val="000000"/>
              </a:solidFill>
              <a:latin typeface="Calibri"/>
              <a:ea typeface="Calibri"/>
              <a:cs typeface="Calibri"/>
              <a:sym typeface="Calibri"/>
            </a:endParaRPr>
          </a:p>
        </p:txBody>
      </p:sp>
      <p:sp>
        <p:nvSpPr>
          <p:cNvPr id="235" name="Google Shape;235;g3f0326eaa19_0_3"/>
          <p:cNvSpPr/>
          <p:nvPr/>
        </p:nvSpPr>
        <p:spPr>
          <a:xfrm>
            <a:off x="6967728" y="2221992"/>
            <a:ext cx="5670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0.16</a:t>
            </a:r>
            <a:endParaRPr b="0" i="0" sz="800" u="none" cap="none" strike="noStrike">
              <a:solidFill>
                <a:srgbClr val="000000"/>
              </a:solidFill>
              <a:latin typeface="Calibri"/>
              <a:ea typeface="Calibri"/>
              <a:cs typeface="Calibri"/>
              <a:sym typeface="Calibri"/>
            </a:endParaRPr>
          </a:p>
        </p:txBody>
      </p:sp>
      <p:sp>
        <p:nvSpPr>
          <p:cNvPr id="236" name="Google Shape;236;g3f0326eaa19_0_3"/>
          <p:cNvSpPr/>
          <p:nvPr/>
        </p:nvSpPr>
        <p:spPr>
          <a:xfrm>
            <a:off x="7589520" y="2221992"/>
            <a:ext cx="6309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0.32</a:t>
            </a:r>
            <a:endParaRPr b="0" i="0" sz="800" u="none" cap="none" strike="noStrike">
              <a:solidFill>
                <a:srgbClr val="000000"/>
              </a:solidFill>
              <a:latin typeface="Calibri"/>
              <a:ea typeface="Calibri"/>
              <a:cs typeface="Calibri"/>
              <a:sym typeface="Calibri"/>
            </a:endParaRPr>
          </a:p>
        </p:txBody>
      </p:sp>
      <p:sp>
        <p:nvSpPr>
          <p:cNvPr id="237" name="Google Shape;237;g3f0326eaa19_0_3"/>
          <p:cNvSpPr/>
          <p:nvPr/>
        </p:nvSpPr>
        <p:spPr>
          <a:xfrm>
            <a:off x="274320" y="2523744"/>
            <a:ext cx="7973700" cy="301800"/>
          </a:xfrm>
          <a:prstGeom prst="rect">
            <a:avLst/>
          </a:prstGeom>
          <a:solidFill>
            <a:srgbClr val="F4F6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g3f0326eaa19_0_3"/>
          <p:cNvSpPr/>
          <p:nvPr/>
        </p:nvSpPr>
        <p:spPr>
          <a:xfrm>
            <a:off x="301752" y="2523744"/>
            <a:ext cx="228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5</a:t>
            </a:r>
            <a:endParaRPr b="0" i="0" sz="800" u="none" cap="none" strike="noStrike">
              <a:solidFill>
                <a:srgbClr val="000000"/>
              </a:solidFill>
              <a:latin typeface="Calibri"/>
              <a:ea typeface="Calibri"/>
              <a:cs typeface="Calibri"/>
              <a:sym typeface="Calibri"/>
            </a:endParaRPr>
          </a:p>
        </p:txBody>
      </p:sp>
      <p:sp>
        <p:nvSpPr>
          <p:cNvPr id="239" name="Google Shape;239;g3f0326eaa19_0_3"/>
          <p:cNvSpPr/>
          <p:nvPr/>
        </p:nvSpPr>
        <p:spPr>
          <a:xfrm>
            <a:off x="585216" y="2523744"/>
            <a:ext cx="795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DS5</a:t>
            </a:r>
            <a:endParaRPr b="0" i="0" sz="800" u="none" cap="none" strike="noStrike">
              <a:solidFill>
                <a:srgbClr val="000000"/>
              </a:solidFill>
              <a:latin typeface="Calibri"/>
              <a:ea typeface="Calibri"/>
              <a:cs typeface="Calibri"/>
              <a:sym typeface="Calibri"/>
            </a:endParaRPr>
          </a:p>
        </p:txBody>
      </p:sp>
      <p:sp>
        <p:nvSpPr>
          <p:cNvPr id="240" name="Google Shape;240;g3f0326eaa19_0_3"/>
          <p:cNvSpPr/>
          <p:nvPr/>
        </p:nvSpPr>
        <p:spPr>
          <a:xfrm>
            <a:off x="1435608" y="2523744"/>
            <a:ext cx="15270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LED 7-Seg 4-digit</a:t>
            </a:r>
            <a:endParaRPr b="0" i="0" sz="800" u="none" cap="none" strike="noStrike">
              <a:solidFill>
                <a:srgbClr val="000000"/>
              </a:solidFill>
              <a:latin typeface="Calibri"/>
              <a:ea typeface="Calibri"/>
              <a:cs typeface="Calibri"/>
              <a:sym typeface="Calibri"/>
            </a:endParaRPr>
          </a:p>
        </p:txBody>
      </p:sp>
      <p:sp>
        <p:nvSpPr>
          <p:cNvPr id="241" name="Google Shape;241;g3f0326eaa19_0_3"/>
          <p:cNvSpPr/>
          <p:nvPr/>
        </p:nvSpPr>
        <p:spPr>
          <a:xfrm>
            <a:off x="3017520" y="2523744"/>
            <a:ext cx="11613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Lite-On</a:t>
            </a:r>
            <a:endParaRPr b="0" i="0" sz="800" u="none" cap="none" strike="noStrike">
              <a:solidFill>
                <a:srgbClr val="000000"/>
              </a:solidFill>
              <a:latin typeface="Calibri"/>
              <a:ea typeface="Calibri"/>
              <a:cs typeface="Calibri"/>
              <a:sym typeface="Calibri"/>
            </a:endParaRPr>
          </a:p>
        </p:txBody>
      </p:sp>
      <p:sp>
        <p:nvSpPr>
          <p:cNvPr id="242" name="Google Shape;242;g3f0326eaa19_0_3"/>
          <p:cNvSpPr/>
          <p:nvPr/>
        </p:nvSpPr>
        <p:spPr>
          <a:xfrm>
            <a:off x="4233672" y="2523744"/>
            <a:ext cx="1481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LTC-4627G</a:t>
            </a:r>
            <a:endParaRPr b="0" i="0" sz="800" u="none" cap="none" strike="noStrike">
              <a:solidFill>
                <a:srgbClr val="000000"/>
              </a:solidFill>
              <a:latin typeface="Calibri"/>
              <a:ea typeface="Calibri"/>
              <a:cs typeface="Calibri"/>
              <a:sym typeface="Calibri"/>
            </a:endParaRPr>
          </a:p>
        </p:txBody>
      </p:sp>
      <p:sp>
        <p:nvSpPr>
          <p:cNvPr id="243" name="Google Shape;243;g3f0326eaa19_0_3"/>
          <p:cNvSpPr/>
          <p:nvPr/>
        </p:nvSpPr>
        <p:spPr>
          <a:xfrm>
            <a:off x="5769864" y="2523744"/>
            <a:ext cx="338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1</a:t>
            </a:r>
            <a:endParaRPr b="0" i="0" sz="800" u="none" cap="none" strike="noStrike">
              <a:solidFill>
                <a:srgbClr val="000000"/>
              </a:solidFill>
              <a:latin typeface="Calibri"/>
              <a:ea typeface="Calibri"/>
              <a:cs typeface="Calibri"/>
              <a:sym typeface="Calibri"/>
            </a:endParaRPr>
          </a:p>
        </p:txBody>
      </p:sp>
      <p:sp>
        <p:nvSpPr>
          <p:cNvPr id="244" name="Google Shape;244;g3f0326eaa19_0_3"/>
          <p:cNvSpPr/>
          <p:nvPr/>
        </p:nvSpPr>
        <p:spPr>
          <a:xfrm>
            <a:off x="6163056" y="2523744"/>
            <a:ext cx="7497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Mouser</a:t>
            </a:r>
            <a:endParaRPr b="0" i="0" sz="800" u="none" cap="none" strike="noStrike">
              <a:solidFill>
                <a:srgbClr val="000000"/>
              </a:solidFill>
              <a:latin typeface="Calibri"/>
              <a:ea typeface="Calibri"/>
              <a:cs typeface="Calibri"/>
              <a:sym typeface="Calibri"/>
            </a:endParaRPr>
          </a:p>
        </p:txBody>
      </p:sp>
      <p:sp>
        <p:nvSpPr>
          <p:cNvPr id="245" name="Google Shape;245;g3f0326eaa19_0_3"/>
          <p:cNvSpPr/>
          <p:nvPr/>
        </p:nvSpPr>
        <p:spPr>
          <a:xfrm>
            <a:off x="6967728" y="2523744"/>
            <a:ext cx="5670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3.24</a:t>
            </a:r>
            <a:endParaRPr b="0" i="0" sz="800" u="none" cap="none" strike="noStrike">
              <a:solidFill>
                <a:srgbClr val="000000"/>
              </a:solidFill>
              <a:latin typeface="Calibri"/>
              <a:ea typeface="Calibri"/>
              <a:cs typeface="Calibri"/>
              <a:sym typeface="Calibri"/>
            </a:endParaRPr>
          </a:p>
        </p:txBody>
      </p:sp>
      <p:sp>
        <p:nvSpPr>
          <p:cNvPr id="246" name="Google Shape;246;g3f0326eaa19_0_3"/>
          <p:cNvSpPr/>
          <p:nvPr/>
        </p:nvSpPr>
        <p:spPr>
          <a:xfrm>
            <a:off x="7589520" y="2523744"/>
            <a:ext cx="6309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3.24</a:t>
            </a:r>
            <a:endParaRPr b="0" i="0" sz="800" u="none" cap="none" strike="noStrike">
              <a:solidFill>
                <a:srgbClr val="000000"/>
              </a:solidFill>
              <a:latin typeface="Calibri"/>
              <a:ea typeface="Calibri"/>
              <a:cs typeface="Calibri"/>
              <a:sym typeface="Calibri"/>
            </a:endParaRPr>
          </a:p>
        </p:txBody>
      </p:sp>
      <p:sp>
        <p:nvSpPr>
          <p:cNvPr id="247" name="Google Shape;247;g3f0326eaa19_0_3"/>
          <p:cNvSpPr/>
          <p:nvPr/>
        </p:nvSpPr>
        <p:spPr>
          <a:xfrm>
            <a:off x="274320" y="2825496"/>
            <a:ext cx="7973700" cy="3018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f0326eaa19_0_3"/>
          <p:cNvSpPr/>
          <p:nvPr/>
        </p:nvSpPr>
        <p:spPr>
          <a:xfrm>
            <a:off x="301752" y="2825496"/>
            <a:ext cx="228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6</a:t>
            </a:r>
            <a:endParaRPr b="0" i="0" sz="800" u="none" cap="none" strike="noStrike">
              <a:solidFill>
                <a:srgbClr val="000000"/>
              </a:solidFill>
              <a:latin typeface="Calibri"/>
              <a:ea typeface="Calibri"/>
              <a:cs typeface="Calibri"/>
              <a:sym typeface="Calibri"/>
            </a:endParaRPr>
          </a:p>
        </p:txBody>
      </p:sp>
      <p:sp>
        <p:nvSpPr>
          <p:cNvPr id="249" name="Google Shape;249;g3f0326eaa19_0_3"/>
          <p:cNvSpPr/>
          <p:nvPr/>
        </p:nvSpPr>
        <p:spPr>
          <a:xfrm>
            <a:off x="585216" y="2825496"/>
            <a:ext cx="795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R1–R3</a:t>
            </a:r>
            <a:endParaRPr b="0" i="0" sz="800" u="none" cap="none" strike="noStrike">
              <a:solidFill>
                <a:srgbClr val="000000"/>
              </a:solidFill>
              <a:latin typeface="Calibri"/>
              <a:ea typeface="Calibri"/>
              <a:cs typeface="Calibri"/>
              <a:sym typeface="Calibri"/>
            </a:endParaRPr>
          </a:p>
        </p:txBody>
      </p:sp>
      <p:sp>
        <p:nvSpPr>
          <p:cNvPr id="250" name="Google Shape;250;g3f0326eaa19_0_3"/>
          <p:cNvSpPr/>
          <p:nvPr/>
        </p:nvSpPr>
        <p:spPr>
          <a:xfrm>
            <a:off x="1435608" y="2825496"/>
            <a:ext cx="15270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Res 10 kΩ 0402</a:t>
            </a:r>
            <a:endParaRPr b="0" i="0" sz="800" u="none" cap="none" strike="noStrike">
              <a:solidFill>
                <a:srgbClr val="000000"/>
              </a:solidFill>
              <a:latin typeface="Calibri"/>
              <a:ea typeface="Calibri"/>
              <a:cs typeface="Calibri"/>
              <a:sym typeface="Calibri"/>
            </a:endParaRPr>
          </a:p>
        </p:txBody>
      </p:sp>
      <p:sp>
        <p:nvSpPr>
          <p:cNvPr id="251" name="Google Shape;251;g3f0326eaa19_0_3"/>
          <p:cNvSpPr/>
          <p:nvPr/>
        </p:nvSpPr>
        <p:spPr>
          <a:xfrm>
            <a:off x="3017520" y="2825496"/>
            <a:ext cx="11613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TE Connectivity</a:t>
            </a:r>
            <a:endParaRPr b="0" i="0" sz="800" u="none" cap="none" strike="noStrike">
              <a:solidFill>
                <a:srgbClr val="000000"/>
              </a:solidFill>
              <a:latin typeface="Calibri"/>
              <a:ea typeface="Calibri"/>
              <a:cs typeface="Calibri"/>
              <a:sym typeface="Calibri"/>
            </a:endParaRPr>
          </a:p>
        </p:txBody>
      </p:sp>
      <p:sp>
        <p:nvSpPr>
          <p:cNvPr id="252" name="Google Shape;252;g3f0326eaa19_0_3"/>
          <p:cNvSpPr/>
          <p:nvPr/>
        </p:nvSpPr>
        <p:spPr>
          <a:xfrm>
            <a:off x="4233672" y="2825496"/>
            <a:ext cx="1481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CRG0201F10K</a:t>
            </a:r>
            <a:endParaRPr b="0" i="0" sz="800" u="none" cap="none" strike="noStrike">
              <a:solidFill>
                <a:srgbClr val="000000"/>
              </a:solidFill>
              <a:latin typeface="Calibri"/>
              <a:ea typeface="Calibri"/>
              <a:cs typeface="Calibri"/>
              <a:sym typeface="Calibri"/>
            </a:endParaRPr>
          </a:p>
        </p:txBody>
      </p:sp>
      <p:sp>
        <p:nvSpPr>
          <p:cNvPr id="253" name="Google Shape;253;g3f0326eaa19_0_3"/>
          <p:cNvSpPr/>
          <p:nvPr/>
        </p:nvSpPr>
        <p:spPr>
          <a:xfrm>
            <a:off x="5769864" y="2825496"/>
            <a:ext cx="338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8</a:t>
            </a:r>
            <a:endParaRPr b="0" i="0" sz="800" u="none" cap="none" strike="noStrike">
              <a:solidFill>
                <a:srgbClr val="000000"/>
              </a:solidFill>
              <a:latin typeface="Calibri"/>
              <a:ea typeface="Calibri"/>
              <a:cs typeface="Calibri"/>
              <a:sym typeface="Calibri"/>
            </a:endParaRPr>
          </a:p>
        </p:txBody>
      </p:sp>
      <p:sp>
        <p:nvSpPr>
          <p:cNvPr id="254" name="Google Shape;254;g3f0326eaa19_0_3"/>
          <p:cNvSpPr/>
          <p:nvPr/>
        </p:nvSpPr>
        <p:spPr>
          <a:xfrm>
            <a:off x="6163056" y="2825496"/>
            <a:ext cx="7497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Mouser</a:t>
            </a:r>
            <a:endParaRPr b="0" i="0" sz="800" u="none" cap="none" strike="noStrike">
              <a:solidFill>
                <a:srgbClr val="000000"/>
              </a:solidFill>
              <a:latin typeface="Calibri"/>
              <a:ea typeface="Calibri"/>
              <a:cs typeface="Calibri"/>
              <a:sym typeface="Calibri"/>
            </a:endParaRPr>
          </a:p>
        </p:txBody>
      </p:sp>
      <p:sp>
        <p:nvSpPr>
          <p:cNvPr id="255" name="Google Shape;255;g3f0326eaa19_0_3"/>
          <p:cNvSpPr/>
          <p:nvPr/>
        </p:nvSpPr>
        <p:spPr>
          <a:xfrm>
            <a:off x="6967728" y="2825496"/>
            <a:ext cx="5670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0.16</a:t>
            </a:r>
            <a:endParaRPr b="0" i="0" sz="800" u="none" cap="none" strike="noStrike">
              <a:solidFill>
                <a:srgbClr val="000000"/>
              </a:solidFill>
              <a:latin typeface="Calibri"/>
              <a:ea typeface="Calibri"/>
              <a:cs typeface="Calibri"/>
              <a:sym typeface="Calibri"/>
            </a:endParaRPr>
          </a:p>
        </p:txBody>
      </p:sp>
      <p:sp>
        <p:nvSpPr>
          <p:cNvPr id="256" name="Google Shape;256;g3f0326eaa19_0_3"/>
          <p:cNvSpPr/>
          <p:nvPr/>
        </p:nvSpPr>
        <p:spPr>
          <a:xfrm>
            <a:off x="7589520" y="2825496"/>
            <a:ext cx="6309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1.28</a:t>
            </a:r>
            <a:endParaRPr b="0" i="0" sz="800" u="none" cap="none" strike="noStrike">
              <a:solidFill>
                <a:srgbClr val="000000"/>
              </a:solidFill>
              <a:latin typeface="Calibri"/>
              <a:ea typeface="Calibri"/>
              <a:cs typeface="Calibri"/>
              <a:sym typeface="Calibri"/>
            </a:endParaRPr>
          </a:p>
        </p:txBody>
      </p:sp>
      <p:sp>
        <p:nvSpPr>
          <p:cNvPr id="257" name="Google Shape;257;g3f0326eaa19_0_3"/>
          <p:cNvSpPr/>
          <p:nvPr/>
        </p:nvSpPr>
        <p:spPr>
          <a:xfrm>
            <a:off x="274320" y="3127248"/>
            <a:ext cx="7973700" cy="301800"/>
          </a:xfrm>
          <a:prstGeom prst="rect">
            <a:avLst/>
          </a:prstGeom>
          <a:solidFill>
            <a:srgbClr val="F4F6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g3f0326eaa19_0_3"/>
          <p:cNvSpPr/>
          <p:nvPr/>
        </p:nvSpPr>
        <p:spPr>
          <a:xfrm>
            <a:off x="301752" y="3127248"/>
            <a:ext cx="228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7</a:t>
            </a:r>
            <a:endParaRPr b="0" i="0" sz="800" u="none" cap="none" strike="noStrike">
              <a:solidFill>
                <a:srgbClr val="000000"/>
              </a:solidFill>
              <a:latin typeface="Calibri"/>
              <a:ea typeface="Calibri"/>
              <a:cs typeface="Calibri"/>
              <a:sym typeface="Calibri"/>
            </a:endParaRPr>
          </a:p>
        </p:txBody>
      </p:sp>
      <p:sp>
        <p:nvSpPr>
          <p:cNvPr id="259" name="Google Shape;259;g3f0326eaa19_0_3"/>
          <p:cNvSpPr/>
          <p:nvPr/>
        </p:nvSpPr>
        <p:spPr>
          <a:xfrm>
            <a:off x="585216" y="3127248"/>
            <a:ext cx="795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R4,R6,R7…</a:t>
            </a:r>
            <a:endParaRPr b="0" i="0" sz="800" u="none" cap="none" strike="noStrike">
              <a:solidFill>
                <a:srgbClr val="000000"/>
              </a:solidFill>
              <a:latin typeface="Calibri"/>
              <a:ea typeface="Calibri"/>
              <a:cs typeface="Calibri"/>
              <a:sym typeface="Calibri"/>
            </a:endParaRPr>
          </a:p>
        </p:txBody>
      </p:sp>
      <p:sp>
        <p:nvSpPr>
          <p:cNvPr id="260" name="Google Shape;260;g3f0326eaa19_0_3"/>
          <p:cNvSpPr/>
          <p:nvPr/>
        </p:nvSpPr>
        <p:spPr>
          <a:xfrm>
            <a:off x="1435608" y="3127248"/>
            <a:ext cx="15270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Res 330 Ω 0805</a:t>
            </a:r>
            <a:endParaRPr b="0" i="0" sz="800" u="none" cap="none" strike="noStrike">
              <a:solidFill>
                <a:srgbClr val="000000"/>
              </a:solidFill>
              <a:latin typeface="Calibri"/>
              <a:ea typeface="Calibri"/>
              <a:cs typeface="Calibri"/>
              <a:sym typeface="Calibri"/>
            </a:endParaRPr>
          </a:p>
        </p:txBody>
      </p:sp>
      <p:sp>
        <p:nvSpPr>
          <p:cNvPr id="261" name="Google Shape;261;g3f0326eaa19_0_3"/>
          <p:cNvSpPr/>
          <p:nvPr/>
        </p:nvSpPr>
        <p:spPr>
          <a:xfrm>
            <a:off x="3017520" y="3127248"/>
            <a:ext cx="11613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Vishay</a:t>
            </a:r>
            <a:endParaRPr b="0" i="0" sz="800" u="none" cap="none" strike="noStrike">
              <a:solidFill>
                <a:srgbClr val="000000"/>
              </a:solidFill>
              <a:latin typeface="Calibri"/>
              <a:ea typeface="Calibri"/>
              <a:cs typeface="Calibri"/>
              <a:sym typeface="Calibri"/>
            </a:endParaRPr>
          </a:p>
        </p:txBody>
      </p:sp>
      <p:sp>
        <p:nvSpPr>
          <p:cNvPr id="262" name="Google Shape;262;g3f0326eaa19_0_3"/>
          <p:cNvSpPr/>
          <p:nvPr/>
        </p:nvSpPr>
        <p:spPr>
          <a:xfrm>
            <a:off x="4233672" y="3127248"/>
            <a:ext cx="1481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CRCW0805330RJNEA</a:t>
            </a:r>
            <a:endParaRPr b="0" i="0" sz="800" u="none" cap="none" strike="noStrike">
              <a:solidFill>
                <a:srgbClr val="000000"/>
              </a:solidFill>
              <a:latin typeface="Calibri"/>
              <a:ea typeface="Calibri"/>
              <a:cs typeface="Calibri"/>
              <a:sym typeface="Calibri"/>
            </a:endParaRPr>
          </a:p>
        </p:txBody>
      </p:sp>
      <p:sp>
        <p:nvSpPr>
          <p:cNvPr id="263" name="Google Shape;263;g3f0326eaa19_0_3"/>
          <p:cNvSpPr/>
          <p:nvPr/>
        </p:nvSpPr>
        <p:spPr>
          <a:xfrm>
            <a:off x="5769864" y="3127248"/>
            <a:ext cx="338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12</a:t>
            </a:r>
            <a:endParaRPr b="0" i="0" sz="800" u="none" cap="none" strike="noStrike">
              <a:solidFill>
                <a:srgbClr val="000000"/>
              </a:solidFill>
              <a:latin typeface="Calibri"/>
              <a:ea typeface="Calibri"/>
              <a:cs typeface="Calibri"/>
              <a:sym typeface="Calibri"/>
            </a:endParaRPr>
          </a:p>
        </p:txBody>
      </p:sp>
      <p:sp>
        <p:nvSpPr>
          <p:cNvPr id="264" name="Google Shape;264;g3f0326eaa19_0_3"/>
          <p:cNvSpPr/>
          <p:nvPr/>
        </p:nvSpPr>
        <p:spPr>
          <a:xfrm>
            <a:off x="6163056" y="3127248"/>
            <a:ext cx="7497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Mouser</a:t>
            </a:r>
            <a:endParaRPr b="0" i="0" sz="800" u="none" cap="none" strike="noStrike">
              <a:solidFill>
                <a:srgbClr val="000000"/>
              </a:solidFill>
              <a:latin typeface="Calibri"/>
              <a:ea typeface="Calibri"/>
              <a:cs typeface="Calibri"/>
              <a:sym typeface="Calibri"/>
            </a:endParaRPr>
          </a:p>
        </p:txBody>
      </p:sp>
      <p:sp>
        <p:nvSpPr>
          <p:cNvPr id="265" name="Google Shape;265;g3f0326eaa19_0_3"/>
          <p:cNvSpPr/>
          <p:nvPr/>
        </p:nvSpPr>
        <p:spPr>
          <a:xfrm>
            <a:off x="6967728" y="3127248"/>
            <a:ext cx="5670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0.09</a:t>
            </a:r>
            <a:endParaRPr b="0" i="0" sz="800" u="none" cap="none" strike="noStrike">
              <a:solidFill>
                <a:srgbClr val="000000"/>
              </a:solidFill>
              <a:latin typeface="Calibri"/>
              <a:ea typeface="Calibri"/>
              <a:cs typeface="Calibri"/>
              <a:sym typeface="Calibri"/>
            </a:endParaRPr>
          </a:p>
        </p:txBody>
      </p:sp>
      <p:sp>
        <p:nvSpPr>
          <p:cNvPr id="266" name="Google Shape;266;g3f0326eaa19_0_3"/>
          <p:cNvSpPr/>
          <p:nvPr/>
        </p:nvSpPr>
        <p:spPr>
          <a:xfrm>
            <a:off x="7589520" y="3127248"/>
            <a:ext cx="6309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1.08</a:t>
            </a:r>
            <a:endParaRPr b="0" i="0" sz="800" u="none" cap="none" strike="noStrike">
              <a:solidFill>
                <a:srgbClr val="000000"/>
              </a:solidFill>
              <a:latin typeface="Calibri"/>
              <a:ea typeface="Calibri"/>
              <a:cs typeface="Calibri"/>
              <a:sym typeface="Calibri"/>
            </a:endParaRPr>
          </a:p>
        </p:txBody>
      </p:sp>
      <p:sp>
        <p:nvSpPr>
          <p:cNvPr id="267" name="Google Shape;267;g3f0326eaa19_0_3"/>
          <p:cNvSpPr/>
          <p:nvPr/>
        </p:nvSpPr>
        <p:spPr>
          <a:xfrm>
            <a:off x="274320" y="3429000"/>
            <a:ext cx="7973700" cy="3018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g3f0326eaa19_0_3"/>
          <p:cNvSpPr/>
          <p:nvPr/>
        </p:nvSpPr>
        <p:spPr>
          <a:xfrm>
            <a:off x="301752" y="3429000"/>
            <a:ext cx="228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8</a:t>
            </a:r>
            <a:endParaRPr b="0" i="0" sz="800" u="none" cap="none" strike="noStrike">
              <a:solidFill>
                <a:srgbClr val="000000"/>
              </a:solidFill>
              <a:latin typeface="Calibri"/>
              <a:ea typeface="Calibri"/>
              <a:cs typeface="Calibri"/>
              <a:sym typeface="Calibri"/>
            </a:endParaRPr>
          </a:p>
        </p:txBody>
      </p:sp>
      <p:sp>
        <p:nvSpPr>
          <p:cNvPr id="269" name="Google Shape;269;g3f0326eaa19_0_3"/>
          <p:cNvSpPr/>
          <p:nvPr/>
        </p:nvSpPr>
        <p:spPr>
          <a:xfrm>
            <a:off x="585216" y="3429000"/>
            <a:ext cx="795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SW1–SW4</a:t>
            </a:r>
            <a:endParaRPr b="0" i="0" sz="800" u="none" cap="none" strike="noStrike">
              <a:solidFill>
                <a:srgbClr val="000000"/>
              </a:solidFill>
              <a:latin typeface="Calibri"/>
              <a:ea typeface="Calibri"/>
              <a:cs typeface="Calibri"/>
              <a:sym typeface="Calibri"/>
            </a:endParaRPr>
          </a:p>
        </p:txBody>
      </p:sp>
      <p:sp>
        <p:nvSpPr>
          <p:cNvPr id="270" name="Google Shape;270;g3f0326eaa19_0_3"/>
          <p:cNvSpPr/>
          <p:nvPr/>
        </p:nvSpPr>
        <p:spPr>
          <a:xfrm>
            <a:off x="1435608" y="3429000"/>
            <a:ext cx="15270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Switch Tactile SPST</a:t>
            </a:r>
            <a:endParaRPr b="0" i="0" sz="800" u="none" cap="none" strike="noStrike">
              <a:solidFill>
                <a:srgbClr val="000000"/>
              </a:solidFill>
              <a:latin typeface="Calibri"/>
              <a:ea typeface="Calibri"/>
              <a:cs typeface="Calibri"/>
              <a:sym typeface="Calibri"/>
            </a:endParaRPr>
          </a:p>
        </p:txBody>
      </p:sp>
      <p:sp>
        <p:nvSpPr>
          <p:cNvPr id="271" name="Google Shape;271;g3f0326eaa19_0_3"/>
          <p:cNvSpPr/>
          <p:nvPr/>
        </p:nvSpPr>
        <p:spPr>
          <a:xfrm>
            <a:off x="3017520" y="3429000"/>
            <a:ext cx="11613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Omron</a:t>
            </a:r>
            <a:endParaRPr b="0" i="0" sz="800" u="none" cap="none" strike="noStrike">
              <a:solidFill>
                <a:srgbClr val="000000"/>
              </a:solidFill>
              <a:latin typeface="Calibri"/>
              <a:ea typeface="Calibri"/>
              <a:cs typeface="Calibri"/>
              <a:sym typeface="Calibri"/>
            </a:endParaRPr>
          </a:p>
        </p:txBody>
      </p:sp>
      <p:sp>
        <p:nvSpPr>
          <p:cNvPr id="272" name="Google Shape;272;g3f0326eaa19_0_3"/>
          <p:cNvSpPr/>
          <p:nvPr/>
        </p:nvSpPr>
        <p:spPr>
          <a:xfrm>
            <a:off x="4233672" y="3429000"/>
            <a:ext cx="1481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B3W-1000</a:t>
            </a:r>
            <a:endParaRPr b="0" i="0" sz="800" u="none" cap="none" strike="noStrike">
              <a:solidFill>
                <a:srgbClr val="000000"/>
              </a:solidFill>
              <a:latin typeface="Calibri"/>
              <a:ea typeface="Calibri"/>
              <a:cs typeface="Calibri"/>
              <a:sym typeface="Calibri"/>
            </a:endParaRPr>
          </a:p>
        </p:txBody>
      </p:sp>
      <p:sp>
        <p:nvSpPr>
          <p:cNvPr id="273" name="Google Shape;273;g3f0326eaa19_0_3"/>
          <p:cNvSpPr/>
          <p:nvPr/>
        </p:nvSpPr>
        <p:spPr>
          <a:xfrm>
            <a:off x="5769864" y="3429000"/>
            <a:ext cx="338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4</a:t>
            </a:r>
            <a:endParaRPr b="0" i="0" sz="800" u="none" cap="none" strike="noStrike">
              <a:solidFill>
                <a:srgbClr val="000000"/>
              </a:solidFill>
              <a:latin typeface="Calibri"/>
              <a:ea typeface="Calibri"/>
              <a:cs typeface="Calibri"/>
              <a:sym typeface="Calibri"/>
            </a:endParaRPr>
          </a:p>
        </p:txBody>
      </p:sp>
      <p:sp>
        <p:nvSpPr>
          <p:cNvPr id="274" name="Google Shape;274;g3f0326eaa19_0_3"/>
          <p:cNvSpPr/>
          <p:nvPr/>
        </p:nvSpPr>
        <p:spPr>
          <a:xfrm>
            <a:off x="6163056" y="3429000"/>
            <a:ext cx="7497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RS</a:t>
            </a:r>
            <a:endParaRPr b="0" i="0" sz="800" u="none" cap="none" strike="noStrike">
              <a:solidFill>
                <a:srgbClr val="000000"/>
              </a:solidFill>
              <a:latin typeface="Calibri"/>
              <a:ea typeface="Calibri"/>
              <a:cs typeface="Calibri"/>
              <a:sym typeface="Calibri"/>
            </a:endParaRPr>
          </a:p>
        </p:txBody>
      </p:sp>
      <p:sp>
        <p:nvSpPr>
          <p:cNvPr id="275" name="Google Shape;275;g3f0326eaa19_0_3"/>
          <p:cNvSpPr/>
          <p:nvPr/>
        </p:nvSpPr>
        <p:spPr>
          <a:xfrm>
            <a:off x="6967728" y="3429000"/>
            <a:ext cx="5670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0.90</a:t>
            </a:r>
            <a:endParaRPr b="0" i="0" sz="800" u="none" cap="none" strike="noStrike">
              <a:solidFill>
                <a:srgbClr val="000000"/>
              </a:solidFill>
              <a:latin typeface="Calibri"/>
              <a:ea typeface="Calibri"/>
              <a:cs typeface="Calibri"/>
              <a:sym typeface="Calibri"/>
            </a:endParaRPr>
          </a:p>
        </p:txBody>
      </p:sp>
      <p:sp>
        <p:nvSpPr>
          <p:cNvPr id="276" name="Google Shape;276;g3f0326eaa19_0_3"/>
          <p:cNvSpPr/>
          <p:nvPr/>
        </p:nvSpPr>
        <p:spPr>
          <a:xfrm>
            <a:off x="7589520" y="3429000"/>
            <a:ext cx="6309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3.60</a:t>
            </a:r>
            <a:endParaRPr b="0" i="0" sz="800" u="none" cap="none" strike="noStrike">
              <a:solidFill>
                <a:srgbClr val="000000"/>
              </a:solidFill>
              <a:latin typeface="Calibri"/>
              <a:ea typeface="Calibri"/>
              <a:cs typeface="Calibri"/>
              <a:sym typeface="Calibri"/>
            </a:endParaRPr>
          </a:p>
        </p:txBody>
      </p:sp>
      <p:sp>
        <p:nvSpPr>
          <p:cNvPr id="277" name="Google Shape;277;g3f0326eaa19_0_3"/>
          <p:cNvSpPr/>
          <p:nvPr/>
        </p:nvSpPr>
        <p:spPr>
          <a:xfrm>
            <a:off x="274320" y="3730752"/>
            <a:ext cx="7973700" cy="301800"/>
          </a:xfrm>
          <a:prstGeom prst="rect">
            <a:avLst/>
          </a:prstGeom>
          <a:solidFill>
            <a:srgbClr val="F4F6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3f0326eaa19_0_3"/>
          <p:cNvSpPr/>
          <p:nvPr/>
        </p:nvSpPr>
        <p:spPr>
          <a:xfrm>
            <a:off x="301752" y="3730752"/>
            <a:ext cx="228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9</a:t>
            </a:r>
            <a:endParaRPr b="0" i="0" sz="800" u="none" cap="none" strike="noStrike">
              <a:solidFill>
                <a:srgbClr val="000000"/>
              </a:solidFill>
              <a:latin typeface="Calibri"/>
              <a:ea typeface="Calibri"/>
              <a:cs typeface="Calibri"/>
              <a:sym typeface="Calibri"/>
            </a:endParaRPr>
          </a:p>
        </p:txBody>
      </p:sp>
      <p:sp>
        <p:nvSpPr>
          <p:cNvPr id="279" name="Google Shape;279;g3f0326eaa19_0_3"/>
          <p:cNvSpPr/>
          <p:nvPr/>
        </p:nvSpPr>
        <p:spPr>
          <a:xfrm>
            <a:off x="585216" y="3730752"/>
            <a:ext cx="795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SW5</a:t>
            </a:r>
            <a:endParaRPr b="0" i="0" sz="800" u="none" cap="none" strike="noStrike">
              <a:solidFill>
                <a:srgbClr val="000000"/>
              </a:solidFill>
              <a:latin typeface="Calibri"/>
              <a:ea typeface="Calibri"/>
              <a:cs typeface="Calibri"/>
              <a:sym typeface="Calibri"/>
            </a:endParaRPr>
          </a:p>
        </p:txBody>
      </p:sp>
      <p:sp>
        <p:nvSpPr>
          <p:cNvPr id="280" name="Google Shape;280;g3f0326eaa19_0_3"/>
          <p:cNvSpPr/>
          <p:nvPr/>
        </p:nvSpPr>
        <p:spPr>
          <a:xfrm>
            <a:off x="1435608" y="3730752"/>
            <a:ext cx="15270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Switch DIP 4-pos</a:t>
            </a:r>
            <a:endParaRPr b="0" i="0" sz="800" u="none" cap="none" strike="noStrike">
              <a:solidFill>
                <a:srgbClr val="000000"/>
              </a:solidFill>
              <a:latin typeface="Calibri"/>
              <a:ea typeface="Calibri"/>
              <a:cs typeface="Calibri"/>
              <a:sym typeface="Calibri"/>
            </a:endParaRPr>
          </a:p>
        </p:txBody>
      </p:sp>
      <p:sp>
        <p:nvSpPr>
          <p:cNvPr id="281" name="Google Shape;281;g3f0326eaa19_0_3"/>
          <p:cNvSpPr/>
          <p:nvPr/>
        </p:nvSpPr>
        <p:spPr>
          <a:xfrm>
            <a:off x="3017520" y="3730752"/>
            <a:ext cx="11613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Omron</a:t>
            </a:r>
            <a:endParaRPr b="0" i="0" sz="800" u="none" cap="none" strike="noStrike">
              <a:solidFill>
                <a:srgbClr val="000000"/>
              </a:solidFill>
              <a:latin typeface="Calibri"/>
              <a:ea typeface="Calibri"/>
              <a:cs typeface="Calibri"/>
              <a:sym typeface="Calibri"/>
            </a:endParaRPr>
          </a:p>
        </p:txBody>
      </p:sp>
      <p:sp>
        <p:nvSpPr>
          <p:cNvPr id="282" name="Google Shape;282;g3f0326eaa19_0_3"/>
          <p:cNvSpPr/>
          <p:nvPr/>
        </p:nvSpPr>
        <p:spPr>
          <a:xfrm>
            <a:off x="4233672" y="3730752"/>
            <a:ext cx="1481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A6D-4100</a:t>
            </a:r>
            <a:endParaRPr b="0" i="0" sz="800" u="none" cap="none" strike="noStrike">
              <a:solidFill>
                <a:srgbClr val="000000"/>
              </a:solidFill>
              <a:latin typeface="Calibri"/>
              <a:ea typeface="Calibri"/>
              <a:cs typeface="Calibri"/>
              <a:sym typeface="Calibri"/>
            </a:endParaRPr>
          </a:p>
        </p:txBody>
      </p:sp>
      <p:sp>
        <p:nvSpPr>
          <p:cNvPr id="283" name="Google Shape;283;g3f0326eaa19_0_3"/>
          <p:cNvSpPr/>
          <p:nvPr/>
        </p:nvSpPr>
        <p:spPr>
          <a:xfrm>
            <a:off x="5769864" y="3730752"/>
            <a:ext cx="338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1</a:t>
            </a:r>
            <a:endParaRPr b="0" i="0" sz="800" u="none" cap="none" strike="noStrike">
              <a:solidFill>
                <a:srgbClr val="000000"/>
              </a:solidFill>
              <a:latin typeface="Calibri"/>
              <a:ea typeface="Calibri"/>
              <a:cs typeface="Calibri"/>
              <a:sym typeface="Calibri"/>
            </a:endParaRPr>
          </a:p>
        </p:txBody>
      </p:sp>
      <p:sp>
        <p:nvSpPr>
          <p:cNvPr id="284" name="Google Shape;284;g3f0326eaa19_0_3"/>
          <p:cNvSpPr/>
          <p:nvPr/>
        </p:nvSpPr>
        <p:spPr>
          <a:xfrm>
            <a:off x="6163056" y="3730752"/>
            <a:ext cx="7497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Arrow</a:t>
            </a:r>
            <a:endParaRPr b="0" i="0" sz="800" u="none" cap="none" strike="noStrike">
              <a:solidFill>
                <a:srgbClr val="000000"/>
              </a:solidFill>
              <a:latin typeface="Calibri"/>
              <a:ea typeface="Calibri"/>
              <a:cs typeface="Calibri"/>
              <a:sym typeface="Calibri"/>
            </a:endParaRPr>
          </a:p>
        </p:txBody>
      </p:sp>
      <p:sp>
        <p:nvSpPr>
          <p:cNvPr id="285" name="Google Shape;285;g3f0326eaa19_0_3"/>
          <p:cNvSpPr/>
          <p:nvPr/>
        </p:nvSpPr>
        <p:spPr>
          <a:xfrm>
            <a:off x="6967728" y="3730752"/>
            <a:ext cx="5670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2.32</a:t>
            </a:r>
            <a:endParaRPr b="0" i="0" sz="800" u="none" cap="none" strike="noStrike">
              <a:solidFill>
                <a:srgbClr val="000000"/>
              </a:solidFill>
              <a:latin typeface="Calibri"/>
              <a:ea typeface="Calibri"/>
              <a:cs typeface="Calibri"/>
              <a:sym typeface="Calibri"/>
            </a:endParaRPr>
          </a:p>
        </p:txBody>
      </p:sp>
      <p:sp>
        <p:nvSpPr>
          <p:cNvPr id="286" name="Google Shape;286;g3f0326eaa19_0_3"/>
          <p:cNvSpPr/>
          <p:nvPr/>
        </p:nvSpPr>
        <p:spPr>
          <a:xfrm>
            <a:off x="7589520" y="3730752"/>
            <a:ext cx="6309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2.32</a:t>
            </a:r>
            <a:endParaRPr b="0" i="0" sz="800" u="none" cap="none" strike="noStrike">
              <a:solidFill>
                <a:srgbClr val="000000"/>
              </a:solidFill>
              <a:latin typeface="Calibri"/>
              <a:ea typeface="Calibri"/>
              <a:cs typeface="Calibri"/>
              <a:sym typeface="Calibri"/>
            </a:endParaRPr>
          </a:p>
        </p:txBody>
      </p:sp>
      <p:sp>
        <p:nvSpPr>
          <p:cNvPr id="287" name="Google Shape;287;g3f0326eaa19_0_3"/>
          <p:cNvSpPr/>
          <p:nvPr/>
        </p:nvSpPr>
        <p:spPr>
          <a:xfrm>
            <a:off x="274320" y="4032504"/>
            <a:ext cx="7973700" cy="3018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f0326eaa19_0_3"/>
          <p:cNvSpPr/>
          <p:nvPr/>
        </p:nvSpPr>
        <p:spPr>
          <a:xfrm>
            <a:off x="301750" y="4032500"/>
            <a:ext cx="3657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10</a:t>
            </a:r>
            <a:endParaRPr b="0" i="0" sz="800" u="none" cap="none" strike="noStrike">
              <a:solidFill>
                <a:srgbClr val="000000"/>
              </a:solidFill>
              <a:latin typeface="Calibri"/>
              <a:ea typeface="Calibri"/>
              <a:cs typeface="Calibri"/>
              <a:sym typeface="Calibri"/>
            </a:endParaRPr>
          </a:p>
        </p:txBody>
      </p:sp>
      <p:sp>
        <p:nvSpPr>
          <p:cNvPr id="289" name="Google Shape;289;g3f0326eaa19_0_3"/>
          <p:cNvSpPr/>
          <p:nvPr/>
        </p:nvSpPr>
        <p:spPr>
          <a:xfrm>
            <a:off x="585216" y="4032504"/>
            <a:ext cx="795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U1</a:t>
            </a:r>
            <a:endParaRPr b="0" i="0" sz="800" u="none" cap="none" strike="noStrike">
              <a:solidFill>
                <a:srgbClr val="000000"/>
              </a:solidFill>
              <a:latin typeface="Calibri"/>
              <a:ea typeface="Calibri"/>
              <a:cs typeface="Calibri"/>
              <a:sym typeface="Calibri"/>
            </a:endParaRPr>
          </a:p>
        </p:txBody>
      </p:sp>
      <p:sp>
        <p:nvSpPr>
          <p:cNvPr id="290" name="Google Shape;290;g3f0326eaa19_0_3"/>
          <p:cNvSpPr/>
          <p:nvPr/>
        </p:nvSpPr>
        <p:spPr>
          <a:xfrm>
            <a:off x="1435608" y="4032504"/>
            <a:ext cx="15270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FPGA MachXO2-640HC</a:t>
            </a:r>
            <a:endParaRPr b="0" i="0" sz="800" u="none" cap="none" strike="noStrike">
              <a:solidFill>
                <a:srgbClr val="000000"/>
              </a:solidFill>
              <a:latin typeface="Calibri"/>
              <a:ea typeface="Calibri"/>
              <a:cs typeface="Calibri"/>
              <a:sym typeface="Calibri"/>
            </a:endParaRPr>
          </a:p>
        </p:txBody>
      </p:sp>
      <p:sp>
        <p:nvSpPr>
          <p:cNvPr id="291" name="Google Shape;291;g3f0326eaa19_0_3"/>
          <p:cNvSpPr/>
          <p:nvPr/>
        </p:nvSpPr>
        <p:spPr>
          <a:xfrm>
            <a:off x="3017520" y="4032504"/>
            <a:ext cx="11613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Lattice Semico.</a:t>
            </a:r>
            <a:endParaRPr b="0" i="0" sz="800" u="none" cap="none" strike="noStrike">
              <a:solidFill>
                <a:srgbClr val="000000"/>
              </a:solidFill>
              <a:latin typeface="Calibri"/>
              <a:ea typeface="Calibri"/>
              <a:cs typeface="Calibri"/>
              <a:sym typeface="Calibri"/>
            </a:endParaRPr>
          </a:p>
        </p:txBody>
      </p:sp>
      <p:sp>
        <p:nvSpPr>
          <p:cNvPr id="292" name="Google Shape;292;g3f0326eaa19_0_3"/>
          <p:cNvSpPr/>
          <p:nvPr/>
        </p:nvSpPr>
        <p:spPr>
          <a:xfrm>
            <a:off x="4233672" y="4032504"/>
            <a:ext cx="1481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LCMXO2-640HC-4TG100C</a:t>
            </a:r>
            <a:endParaRPr b="0" i="0" sz="800" u="none" cap="none" strike="noStrike">
              <a:solidFill>
                <a:srgbClr val="000000"/>
              </a:solidFill>
              <a:latin typeface="Calibri"/>
              <a:ea typeface="Calibri"/>
              <a:cs typeface="Calibri"/>
              <a:sym typeface="Calibri"/>
            </a:endParaRPr>
          </a:p>
        </p:txBody>
      </p:sp>
      <p:sp>
        <p:nvSpPr>
          <p:cNvPr id="293" name="Google Shape;293;g3f0326eaa19_0_3"/>
          <p:cNvSpPr/>
          <p:nvPr/>
        </p:nvSpPr>
        <p:spPr>
          <a:xfrm>
            <a:off x="5769864" y="4032504"/>
            <a:ext cx="338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1</a:t>
            </a:r>
            <a:endParaRPr b="0" i="0" sz="800" u="none" cap="none" strike="noStrike">
              <a:solidFill>
                <a:srgbClr val="000000"/>
              </a:solidFill>
              <a:latin typeface="Calibri"/>
              <a:ea typeface="Calibri"/>
              <a:cs typeface="Calibri"/>
              <a:sym typeface="Calibri"/>
            </a:endParaRPr>
          </a:p>
        </p:txBody>
      </p:sp>
      <p:sp>
        <p:nvSpPr>
          <p:cNvPr id="294" name="Google Shape;294;g3f0326eaa19_0_3"/>
          <p:cNvSpPr/>
          <p:nvPr/>
        </p:nvSpPr>
        <p:spPr>
          <a:xfrm>
            <a:off x="6163056" y="4032504"/>
            <a:ext cx="7497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Mouser</a:t>
            </a:r>
            <a:endParaRPr b="0" i="0" sz="800" u="none" cap="none" strike="noStrike">
              <a:solidFill>
                <a:srgbClr val="000000"/>
              </a:solidFill>
              <a:latin typeface="Calibri"/>
              <a:ea typeface="Calibri"/>
              <a:cs typeface="Calibri"/>
              <a:sym typeface="Calibri"/>
            </a:endParaRPr>
          </a:p>
        </p:txBody>
      </p:sp>
      <p:sp>
        <p:nvSpPr>
          <p:cNvPr id="295" name="Google Shape;295;g3f0326eaa19_0_3"/>
          <p:cNvSpPr/>
          <p:nvPr/>
        </p:nvSpPr>
        <p:spPr>
          <a:xfrm>
            <a:off x="6967728" y="4032504"/>
            <a:ext cx="5670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8.34</a:t>
            </a:r>
            <a:endParaRPr b="0" i="0" sz="800" u="none" cap="none" strike="noStrike">
              <a:solidFill>
                <a:srgbClr val="000000"/>
              </a:solidFill>
              <a:latin typeface="Calibri"/>
              <a:ea typeface="Calibri"/>
              <a:cs typeface="Calibri"/>
              <a:sym typeface="Calibri"/>
            </a:endParaRPr>
          </a:p>
        </p:txBody>
      </p:sp>
      <p:sp>
        <p:nvSpPr>
          <p:cNvPr id="296" name="Google Shape;296;g3f0326eaa19_0_3"/>
          <p:cNvSpPr/>
          <p:nvPr/>
        </p:nvSpPr>
        <p:spPr>
          <a:xfrm>
            <a:off x="7589520" y="4032504"/>
            <a:ext cx="6309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8.34 </a:t>
            </a:r>
            <a:endParaRPr b="0" i="0" sz="800" u="none" cap="none" strike="noStrike">
              <a:solidFill>
                <a:srgbClr val="000000"/>
              </a:solidFill>
              <a:latin typeface="Calibri"/>
              <a:ea typeface="Calibri"/>
              <a:cs typeface="Calibri"/>
              <a:sym typeface="Calibri"/>
            </a:endParaRPr>
          </a:p>
        </p:txBody>
      </p:sp>
      <p:sp>
        <p:nvSpPr>
          <p:cNvPr id="297" name="Google Shape;297;g3f0326eaa19_0_3"/>
          <p:cNvSpPr/>
          <p:nvPr/>
        </p:nvSpPr>
        <p:spPr>
          <a:xfrm>
            <a:off x="274320" y="4563151"/>
            <a:ext cx="7973700" cy="310800"/>
          </a:xfrm>
          <a:prstGeom prst="rect">
            <a:avLst/>
          </a:prstGeom>
          <a:solidFill>
            <a:srgbClr val="E8F5E9"/>
          </a:solidFill>
          <a:ln cap="flat" cmpd="sng" w="9525">
            <a:solidFill>
              <a:srgbClr val="C8E6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g3f0326eaa19_0_3"/>
          <p:cNvSpPr/>
          <p:nvPr/>
        </p:nvSpPr>
        <p:spPr>
          <a:xfrm>
            <a:off x="310896" y="4563151"/>
            <a:ext cx="50292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900"/>
              <a:buFont typeface="Calibri"/>
              <a:buNone/>
            </a:pPr>
            <a:r>
              <a:rPr b="1" i="0" lang="en-US" sz="900" u="none" cap="none" strike="noStrike">
                <a:solidFill>
                  <a:srgbClr val="1B2A4A"/>
                </a:solidFill>
                <a:latin typeface="Calibri"/>
                <a:ea typeface="Calibri"/>
                <a:cs typeface="Calibri"/>
                <a:sym typeface="Calibri"/>
              </a:rPr>
              <a:t>Total excl. FPGA</a:t>
            </a:r>
            <a:endParaRPr b="0" i="0" sz="900" u="none" cap="none" strike="noStrike">
              <a:solidFill>
                <a:srgbClr val="000000"/>
              </a:solidFill>
              <a:latin typeface="Calibri"/>
              <a:ea typeface="Calibri"/>
              <a:cs typeface="Calibri"/>
              <a:sym typeface="Calibri"/>
            </a:endParaRPr>
          </a:p>
        </p:txBody>
      </p:sp>
      <p:sp>
        <p:nvSpPr>
          <p:cNvPr id="299" name="Google Shape;299;g3f0326eaa19_0_3"/>
          <p:cNvSpPr/>
          <p:nvPr/>
        </p:nvSpPr>
        <p:spPr>
          <a:xfrm>
            <a:off x="6949440" y="4563151"/>
            <a:ext cx="1280100" cy="310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900"/>
              <a:buFont typeface="Calibri"/>
              <a:buNone/>
            </a:pPr>
            <a:r>
              <a:rPr b="1" i="0" lang="en-US" sz="900" u="none" cap="none" strike="noStrike">
                <a:solidFill>
                  <a:srgbClr val="1B2A4A"/>
                </a:solidFill>
                <a:latin typeface="Calibri"/>
                <a:ea typeface="Calibri"/>
                <a:cs typeface="Calibri"/>
                <a:sym typeface="Calibri"/>
              </a:rPr>
              <a:t>≈ 12.</a:t>
            </a:r>
            <a:r>
              <a:rPr b="1" lang="en-US" sz="900">
                <a:solidFill>
                  <a:srgbClr val="1B2A4A"/>
                </a:solidFill>
                <a:latin typeface="Calibri"/>
                <a:ea typeface="Calibri"/>
                <a:cs typeface="Calibri"/>
                <a:sym typeface="Calibri"/>
              </a:rPr>
              <a:t>76</a:t>
            </a:r>
            <a:r>
              <a:rPr b="1" i="0" lang="en-US" sz="900" u="none" cap="none" strike="noStrike">
                <a:solidFill>
                  <a:srgbClr val="1B2A4A"/>
                </a:solidFill>
                <a:latin typeface="Calibri"/>
                <a:ea typeface="Calibri"/>
                <a:cs typeface="Calibri"/>
                <a:sym typeface="Calibri"/>
              </a:rPr>
              <a:t> €</a:t>
            </a:r>
            <a:endParaRPr b="0" i="0" sz="900" u="none" cap="none" strike="noStrike">
              <a:solidFill>
                <a:srgbClr val="000000"/>
              </a:solidFill>
              <a:latin typeface="Calibri"/>
              <a:ea typeface="Calibri"/>
              <a:cs typeface="Calibri"/>
              <a:sym typeface="Calibri"/>
            </a:endParaRPr>
          </a:p>
        </p:txBody>
      </p:sp>
      <p:sp>
        <p:nvSpPr>
          <p:cNvPr id="300" name="Google Shape;300;g3f0326eaa19_0_3"/>
          <p:cNvSpPr/>
          <p:nvPr/>
        </p:nvSpPr>
        <p:spPr>
          <a:xfrm>
            <a:off x="274320" y="4837129"/>
            <a:ext cx="7973700" cy="310800"/>
          </a:xfrm>
          <a:prstGeom prst="rect">
            <a:avLst/>
          </a:prstGeom>
          <a:solidFill>
            <a:srgbClr val="E3F2FD"/>
          </a:solidFill>
          <a:ln cap="flat" cmpd="sng" w="9525">
            <a:solidFill>
              <a:srgbClr val="BBDE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g3f0326eaa19_0_3"/>
          <p:cNvSpPr/>
          <p:nvPr/>
        </p:nvSpPr>
        <p:spPr>
          <a:xfrm>
            <a:off x="310896" y="4837129"/>
            <a:ext cx="64923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50"/>
              <a:buFont typeface="Calibri"/>
              <a:buNone/>
            </a:pPr>
            <a:r>
              <a:rPr b="1" i="0" lang="en-US" sz="850" u="none" cap="none" strike="noStrike">
                <a:solidFill>
                  <a:srgbClr val="1B2A4A"/>
                </a:solidFill>
                <a:latin typeface="Calibri"/>
                <a:ea typeface="Calibri"/>
                <a:cs typeface="Calibri"/>
                <a:sym typeface="Calibri"/>
              </a:rPr>
              <a:t>Total incl. FPGA  </a:t>
            </a:r>
            <a:endParaRPr b="0" i="0" sz="850" u="none" cap="none" strike="noStrike">
              <a:solidFill>
                <a:srgbClr val="000000"/>
              </a:solidFill>
              <a:latin typeface="Calibri"/>
              <a:ea typeface="Calibri"/>
              <a:cs typeface="Calibri"/>
              <a:sym typeface="Calibri"/>
            </a:endParaRPr>
          </a:p>
        </p:txBody>
      </p:sp>
      <p:sp>
        <p:nvSpPr>
          <p:cNvPr id="302" name="Google Shape;302;g3f0326eaa19_0_3"/>
          <p:cNvSpPr/>
          <p:nvPr/>
        </p:nvSpPr>
        <p:spPr>
          <a:xfrm>
            <a:off x="6949440" y="4837129"/>
            <a:ext cx="1280100" cy="310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565C0"/>
              </a:buClr>
              <a:buSzPts val="900"/>
              <a:buFont typeface="Calibri"/>
              <a:buNone/>
            </a:pPr>
            <a:r>
              <a:rPr b="1" i="0" lang="en-US" sz="900" u="none" cap="none" strike="noStrike">
                <a:solidFill>
                  <a:srgbClr val="1565C0"/>
                </a:solidFill>
                <a:latin typeface="Calibri"/>
                <a:ea typeface="Calibri"/>
                <a:cs typeface="Calibri"/>
                <a:sym typeface="Calibri"/>
              </a:rPr>
              <a:t>≈ 2</a:t>
            </a:r>
            <a:r>
              <a:rPr b="1" lang="en-US" sz="900">
                <a:solidFill>
                  <a:srgbClr val="1565C0"/>
                </a:solidFill>
                <a:latin typeface="Calibri"/>
                <a:ea typeface="Calibri"/>
                <a:cs typeface="Calibri"/>
                <a:sym typeface="Calibri"/>
              </a:rPr>
              <a:t>1</a:t>
            </a:r>
            <a:r>
              <a:rPr b="1" i="0" lang="en-US" sz="900" u="none" cap="none" strike="noStrike">
                <a:solidFill>
                  <a:srgbClr val="1565C0"/>
                </a:solidFill>
                <a:latin typeface="Calibri"/>
                <a:ea typeface="Calibri"/>
                <a:cs typeface="Calibri"/>
                <a:sym typeface="Calibri"/>
              </a:rPr>
              <a:t>.</a:t>
            </a:r>
            <a:r>
              <a:rPr b="1" lang="en-US" sz="900">
                <a:solidFill>
                  <a:srgbClr val="1565C0"/>
                </a:solidFill>
                <a:latin typeface="Calibri"/>
                <a:ea typeface="Calibri"/>
                <a:cs typeface="Calibri"/>
                <a:sym typeface="Calibri"/>
              </a:rPr>
              <a:t>10</a:t>
            </a:r>
            <a:r>
              <a:rPr b="1" i="0" lang="en-US" sz="900" u="none" cap="none" strike="noStrike">
                <a:solidFill>
                  <a:srgbClr val="1565C0"/>
                </a:solidFill>
                <a:latin typeface="Calibri"/>
                <a:ea typeface="Calibri"/>
                <a:cs typeface="Calibri"/>
                <a:sym typeface="Calibri"/>
              </a:rPr>
              <a:t> €</a:t>
            </a:r>
            <a:endParaRPr b="0" i="0" sz="900" u="none" cap="none" strike="noStrike">
              <a:solidFill>
                <a:srgbClr val="000000"/>
              </a:solidFill>
              <a:latin typeface="Calibri"/>
              <a:ea typeface="Calibri"/>
              <a:cs typeface="Calibri"/>
              <a:sym typeface="Calibri"/>
            </a:endParaRPr>
          </a:p>
        </p:txBody>
      </p:sp>
      <p:sp>
        <p:nvSpPr>
          <p:cNvPr id="303" name="Google Shape;303;g3f0326eaa19_0_3"/>
          <p:cNvSpPr/>
          <p:nvPr/>
        </p:nvSpPr>
        <p:spPr>
          <a:xfrm>
            <a:off x="271662" y="4258741"/>
            <a:ext cx="7973700" cy="3018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g3f0326eaa19_0_3"/>
          <p:cNvSpPr/>
          <p:nvPr/>
        </p:nvSpPr>
        <p:spPr>
          <a:xfrm>
            <a:off x="299092" y="4258737"/>
            <a:ext cx="3657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lang="en-US" sz="800">
                <a:solidFill>
                  <a:srgbClr val="1B2A4A"/>
                </a:solidFill>
                <a:latin typeface="Calibri"/>
                <a:ea typeface="Calibri"/>
                <a:cs typeface="Calibri"/>
                <a:sym typeface="Calibri"/>
              </a:rPr>
              <a:t>11</a:t>
            </a:r>
            <a:endParaRPr b="0" i="0" sz="800" u="none" cap="none" strike="noStrike">
              <a:solidFill>
                <a:srgbClr val="000000"/>
              </a:solidFill>
              <a:latin typeface="Calibri"/>
              <a:ea typeface="Calibri"/>
              <a:cs typeface="Calibri"/>
              <a:sym typeface="Calibri"/>
            </a:endParaRPr>
          </a:p>
        </p:txBody>
      </p:sp>
      <p:sp>
        <p:nvSpPr>
          <p:cNvPr id="305" name="Google Shape;305;g3f0326eaa19_0_3"/>
          <p:cNvSpPr/>
          <p:nvPr/>
        </p:nvSpPr>
        <p:spPr>
          <a:xfrm>
            <a:off x="582558" y="4258741"/>
            <a:ext cx="7956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lang="en-US" sz="800">
                <a:solidFill>
                  <a:srgbClr val="1B2A4A"/>
                </a:solidFill>
                <a:latin typeface="Calibri"/>
                <a:ea typeface="Calibri"/>
                <a:cs typeface="Calibri"/>
                <a:sym typeface="Calibri"/>
              </a:rPr>
              <a:t>Y1</a:t>
            </a:r>
            <a:endParaRPr b="0" i="0" sz="800" u="none" cap="none" strike="noStrike">
              <a:solidFill>
                <a:srgbClr val="000000"/>
              </a:solidFill>
              <a:latin typeface="Calibri"/>
              <a:ea typeface="Calibri"/>
              <a:cs typeface="Calibri"/>
              <a:sym typeface="Calibri"/>
            </a:endParaRPr>
          </a:p>
        </p:txBody>
      </p:sp>
      <p:sp>
        <p:nvSpPr>
          <p:cNvPr id="306" name="Google Shape;306;g3f0326eaa19_0_3"/>
          <p:cNvSpPr/>
          <p:nvPr/>
        </p:nvSpPr>
        <p:spPr>
          <a:xfrm>
            <a:off x="1432950" y="4258741"/>
            <a:ext cx="15270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lang="en-US" sz="800">
                <a:latin typeface="Calibri"/>
                <a:ea typeface="Calibri"/>
                <a:cs typeface="Calibri"/>
                <a:sym typeface="Calibri"/>
              </a:rPr>
              <a:t>Crystal Oscillator</a:t>
            </a:r>
            <a:endParaRPr b="0" i="0" sz="800" u="none" cap="none" strike="noStrike">
              <a:solidFill>
                <a:srgbClr val="000000"/>
              </a:solidFill>
              <a:latin typeface="Calibri"/>
              <a:ea typeface="Calibri"/>
              <a:cs typeface="Calibri"/>
              <a:sym typeface="Calibri"/>
            </a:endParaRPr>
          </a:p>
        </p:txBody>
      </p:sp>
      <p:sp>
        <p:nvSpPr>
          <p:cNvPr id="307" name="Google Shape;307;g3f0326eaa19_0_3"/>
          <p:cNvSpPr/>
          <p:nvPr/>
        </p:nvSpPr>
        <p:spPr>
          <a:xfrm>
            <a:off x="3014862" y="4258741"/>
            <a:ext cx="11613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lang="en-US" sz="800">
                <a:solidFill>
                  <a:srgbClr val="1B2A4A"/>
                </a:solidFill>
                <a:latin typeface="Calibri"/>
                <a:ea typeface="Calibri"/>
                <a:cs typeface="Calibri"/>
                <a:sym typeface="Calibri"/>
              </a:rPr>
              <a:t>Abracon</a:t>
            </a:r>
            <a:endParaRPr b="0" i="0" sz="800" u="none" cap="none" strike="noStrike">
              <a:solidFill>
                <a:srgbClr val="000000"/>
              </a:solidFill>
              <a:latin typeface="Calibri"/>
              <a:ea typeface="Calibri"/>
              <a:cs typeface="Calibri"/>
              <a:sym typeface="Calibri"/>
            </a:endParaRPr>
          </a:p>
        </p:txBody>
      </p:sp>
      <p:sp>
        <p:nvSpPr>
          <p:cNvPr id="308" name="Google Shape;308;g3f0326eaa19_0_3"/>
          <p:cNvSpPr/>
          <p:nvPr/>
        </p:nvSpPr>
        <p:spPr>
          <a:xfrm>
            <a:off x="4231014" y="4258741"/>
            <a:ext cx="1481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lang="en-US" sz="800">
                <a:solidFill>
                  <a:srgbClr val="1B2A4A"/>
                </a:solidFill>
                <a:latin typeface="Calibri"/>
                <a:ea typeface="Calibri"/>
                <a:cs typeface="Calibri"/>
                <a:sym typeface="Calibri"/>
              </a:rPr>
              <a:t>ABM8-12.000MHZ-B2-T</a:t>
            </a:r>
            <a:endParaRPr b="0" i="0" sz="800" u="none" cap="none" strike="noStrike">
              <a:solidFill>
                <a:srgbClr val="000000"/>
              </a:solidFill>
              <a:latin typeface="Calibri"/>
              <a:ea typeface="Calibri"/>
              <a:cs typeface="Calibri"/>
              <a:sym typeface="Calibri"/>
            </a:endParaRPr>
          </a:p>
        </p:txBody>
      </p:sp>
      <p:sp>
        <p:nvSpPr>
          <p:cNvPr id="309" name="Google Shape;309;g3f0326eaa19_0_3"/>
          <p:cNvSpPr/>
          <p:nvPr/>
        </p:nvSpPr>
        <p:spPr>
          <a:xfrm>
            <a:off x="5767206" y="4258741"/>
            <a:ext cx="3384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1</a:t>
            </a:r>
            <a:endParaRPr b="0" i="0" sz="800" u="none" cap="none" strike="noStrike">
              <a:solidFill>
                <a:srgbClr val="000000"/>
              </a:solidFill>
              <a:latin typeface="Calibri"/>
              <a:ea typeface="Calibri"/>
              <a:cs typeface="Calibri"/>
              <a:sym typeface="Calibri"/>
            </a:endParaRPr>
          </a:p>
        </p:txBody>
      </p:sp>
      <p:sp>
        <p:nvSpPr>
          <p:cNvPr id="310" name="Google Shape;310;g3f0326eaa19_0_3"/>
          <p:cNvSpPr/>
          <p:nvPr/>
        </p:nvSpPr>
        <p:spPr>
          <a:xfrm>
            <a:off x="6160398" y="4258741"/>
            <a:ext cx="749700" cy="30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4A"/>
              </a:buClr>
              <a:buSzPts val="800"/>
              <a:buFont typeface="Calibri"/>
              <a:buNone/>
            </a:pPr>
            <a:r>
              <a:rPr b="0" i="0" lang="en-US" sz="800" u="none" cap="none" strike="noStrike">
                <a:solidFill>
                  <a:srgbClr val="1B2A4A"/>
                </a:solidFill>
                <a:latin typeface="Calibri"/>
                <a:ea typeface="Calibri"/>
                <a:cs typeface="Calibri"/>
                <a:sym typeface="Calibri"/>
              </a:rPr>
              <a:t>Mouser</a:t>
            </a:r>
            <a:endParaRPr b="0" i="0" sz="800" u="none" cap="none" strike="noStrike">
              <a:solidFill>
                <a:srgbClr val="000000"/>
              </a:solidFill>
              <a:latin typeface="Calibri"/>
              <a:ea typeface="Calibri"/>
              <a:cs typeface="Calibri"/>
              <a:sym typeface="Calibri"/>
            </a:endParaRPr>
          </a:p>
        </p:txBody>
      </p:sp>
      <p:sp>
        <p:nvSpPr>
          <p:cNvPr id="311" name="Google Shape;311;g3f0326eaa19_0_3"/>
          <p:cNvSpPr/>
          <p:nvPr/>
        </p:nvSpPr>
        <p:spPr>
          <a:xfrm>
            <a:off x="6965070" y="4258741"/>
            <a:ext cx="5670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lang="en-US" sz="800">
                <a:solidFill>
                  <a:srgbClr val="1B2A4A"/>
                </a:solidFill>
                <a:latin typeface="Calibri"/>
                <a:ea typeface="Calibri"/>
                <a:cs typeface="Calibri"/>
                <a:sym typeface="Calibri"/>
              </a:rPr>
              <a:t>0.38</a:t>
            </a:r>
            <a:endParaRPr b="0" i="0" sz="800" u="none" cap="none" strike="noStrike">
              <a:solidFill>
                <a:srgbClr val="000000"/>
              </a:solidFill>
              <a:latin typeface="Calibri"/>
              <a:ea typeface="Calibri"/>
              <a:cs typeface="Calibri"/>
              <a:sym typeface="Calibri"/>
            </a:endParaRPr>
          </a:p>
        </p:txBody>
      </p:sp>
      <p:sp>
        <p:nvSpPr>
          <p:cNvPr id="312" name="Google Shape;312;g3f0326eaa19_0_3"/>
          <p:cNvSpPr/>
          <p:nvPr/>
        </p:nvSpPr>
        <p:spPr>
          <a:xfrm>
            <a:off x="7586862" y="4258741"/>
            <a:ext cx="630900" cy="3018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B2A4A"/>
              </a:buClr>
              <a:buSzPts val="800"/>
              <a:buFont typeface="Calibri"/>
              <a:buNone/>
            </a:pPr>
            <a:r>
              <a:rPr lang="en-US" sz="800">
                <a:solidFill>
                  <a:srgbClr val="1B2A4A"/>
                </a:solidFill>
                <a:latin typeface="Calibri"/>
                <a:ea typeface="Calibri"/>
                <a:cs typeface="Calibri"/>
                <a:sym typeface="Calibri"/>
              </a:rPr>
              <a:t>0.38</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317" name="Shape 317"/>
        <p:cNvGrpSpPr/>
        <p:nvPr/>
      </p:nvGrpSpPr>
      <p:grpSpPr>
        <a:xfrm>
          <a:off x="0" y="0"/>
          <a:ext cx="0" cy="0"/>
          <a:chOff x="0" y="0"/>
          <a:chExt cx="0" cy="0"/>
        </a:xfrm>
      </p:grpSpPr>
      <p:sp>
        <p:nvSpPr>
          <p:cNvPr id="318" name="Google Shape;318;p11"/>
          <p:cNvSpPr/>
          <p:nvPr/>
        </p:nvSpPr>
        <p:spPr>
          <a:xfrm>
            <a:off x="548640" y="274320"/>
            <a:ext cx="80467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Verification &amp; Summary</a:t>
            </a:r>
            <a:endParaRPr b="0" i="0" sz="2800" u="none" cap="none" strike="noStrike">
              <a:solidFill>
                <a:schemeClr val="dk1"/>
              </a:solidFill>
              <a:latin typeface="Calibri"/>
              <a:ea typeface="Calibri"/>
              <a:cs typeface="Calibri"/>
              <a:sym typeface="Calibri"/>
            </a:endParaRPr>
          </a:p>
        </p:txBody>
      </p:sp>
      <p:sp>
        <p:nvSpPr>
          <p:cNvPr id="319" name="Google Shape;319;p11"/>
          <p:cNvSpPr/>
          <p:nvPr/>
        </p:nvSpPr>
        <p:spPr>
          <a:xfrm>
            <a:off x="457200" y="1005840"/>
            <a:ext cx="4023360" cy="1005840"/>
          </a:xfrm>
          <a:prstGeom prst="roundRect">
            <a:avLst>
              <a:gd fmla="val 9091" name="adj"/>
            </a:avLst>
          </a:prstGeom>
          <a:solidFill>
            <a:srgbClr val="24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1"/>
          <p:cNvSpPr/>
          <p:nvPr/>
        </p:nvSpPr>
        <p:spPr>
          <a:xfrm>
            <a:off x="594360" y="1280160"/>
            <a:ext cx="411480" cy="411480"/>
          </a:xfrm>
          <a:prstGeom prst="ellipse">
            <a:avLst/>
          </a:prstGeom>
          <a:solidFill>
            <a:srgbClr val="02C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1"/>
          <p:cNvSpPr/>
          <p:nvPr/>
        </p:nvSpPr>
        <p:spPr>
          <a:xfrm>
            <a:off x="594360" y="128016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300"/>
              <a:buFont typeface="Cambria"/>
              <a:buNone/>
            </a:pPr>
            <a:r>
              <a:rPr b="1" i="0" lang="en-US" sz="1300" u="none" cap="none" strike="noStrike">
                <a:solidFill>
                  <a:srgbClr val="1B2A4A"/>
                </a:solidFill>
                <a:latin typeface="Cambria"/>
                <a:ea typeface="Cambria"/>
                <a:cs typeface="Cambria"/>
                <a:sym typeface="Cambria"/>
              </a:rPr>
              <a:t>1</a:t>
            </a:r>
            <a:endParaRPr b="0" i="0" sz="1300" u="none" cap="none" strike="noStrike">
              <a:solidFill>
                <a:schemeClr val="dk1"/>
              </a:solidFill>
              <a:latin typeface="Calibri"/>
              <a:ea typeface="Calibri"/>
              <a:cs typeface="Calibri"/>
              <a:sym typeface="Calibri"/>
            </a:endParaRPr>
          </a:p>
        </p:txBody>
      </p:sp>
      <p:sp>
        <p:nvSpPr>
          <p:cNvPr id="322" name="Google Shape;322;p11"/>
          <p:cNvSpPr/>
          <p:nvPr/>
        </p:nvSpPr>
        <p:spPr>
          <a:xfrm>
            <a:off x="1143000" y="1078992"/>
            <a:ext cx="32004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mbria"/>
              <a:buNone/>
            </a:pPr>
            <a:r>
              <a:rPr b="1" i="0" lang="en-US" sz="1200" u="none" cap="none" strike="noStrike">
                <a:solidFill>
                  <a:srgbClr val="FFFFFF"/>
                </a:solidFill>
                <a:latin typeface="Cambria"/>
                <a:ea typeface="Cambria"/>
                <a:cs typeface="Cambria"/>
                <a:sym typeface="Cambria"/>
              </a:rPr>
              <a:t>VHDL Testbench</a:t>
            </a:r>
            <a:endParaRPr b="0" i="0" sz="1200" u="none" cap="none" strike="noStrike">
              <a:solidFill>
                <a:schemeClr val="dk1"/>
              </a:solidFill>
              <a:latin typeface="Calibri"/>
              <a:ea typeface="Calibri"/>
              <a:cs typeface="Calibri"/>
              <a:sym typeface="Calibri"/>
            </a:endParaRPr>
          </a:p>
        </p:txBody>
      </p:sp>
      <p:sp>
        <p:nvSpPr>
          <p:cNvPr id="323" name="Google Shape;323;p11"/>
          <p:cNvSpPr/>
          <p:nvPr/>
        </p:nvSpPr>
        <p:spPr>
          <a:xfrm>
            <a:off x="1143000" y="1444752"/>
            <a:ext cx="32004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4CC"/>
              </a:buClr>
              <a:buSzPts val="1100"/>
              <a:buFont typeface="Calibri"/>
              <a:buNone/>
            </a:pPr>
            <a:r>
              <a:rPr b="0" i="0" lang="en-US" sz="1100" u="none" cap="none" strike="noStrike">
                <a:solidFill>
                  <a:srgbClr val="A0B4CC"/>
                </a:solidFill>
                <a:latin typeface="Calibri"/>
                <a:ea typeface="Calibri"/>
                <a:cs typeface="Calibri"/>
                <a:sym typeface="Calibri"/>
              </a:rPr>
              <a:t>Simulated reset, correct/wrong password, entry/exit sequencing, and full-lot saturation.</a:t>
            </a:r>
            <a:endParaRPr b="0" i="0" sz="1100" u="none" cap="none" strike="noStrike">
              <a:solidFill>
                <a:schemeClr val="dk1"/>
              </a:solidFill>
              <a:latin typeface="Calibri"/>
              <a:ea typeface="Calibri"/>
              <a:cs typeface="Calibri"/>
              <a:sym typeface="Calibri"/>
            </a:endParaRPr>
          </a:p>
        </p:txBody>
      </p:sp>
      <p:sp>
        <p:nvSpPr>
          <p:cNvPr id="324" name="Google Shape;324;p11"/>
          <p:cNvSpPr/>
          <p:nvPr/>
        </p:nvSpPr>
        <p:spPr>
          <a:xfrm>
            <a:off x="457200" y="2194560"/>
            <a:ext cx="4023360" cy="1005840"/>
          </a:xfrm>
          <a:prstGeom prst="roundRect">
            <a:avLst>
              <a:gd fmla="val 9091" name="adj"/>
            </a:avLst>
          </a:prstGeom>
          <a:solidFill>
            <a:srgbClr val="24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1"/>
          <p:cNvSpPr/>
          <p:nvPr/>
        </p:nvSpPr>
        <p:spPr>
          <a:xfrm>
            <a:off x="594360" y="2468880"/>
            <a:ext cx="411480" cy="411480"/>
          </a:xfrm>
          <a:prstGeom prst="ellipse">
            <a:avLst/>
          </a:prstGeom>
          <a:solidFill>
            <a:srgbClr val="02C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1"/>
          <p:cNvSpPr/>
          <p:nvPr/>
        </p:nvSpPr>
        <p:spPr>
          <a:xfrm>
            <a:off x="594360" y="246888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300"/>
              <a:buFont typeface="Cambria"/>
              <a:buNone/>
            </a:pPr>
            <a:r>
              <a:rPr b="1" i="0" lang="en-US" sz="1300" u="none" cap="none" strike="noStrike">
                <a:solidFill>
                  <a:srgbClr val="1B2A4A"/>
                </a:solidFill>
                <a:latin typeface="Cambria"/>
                <a:ea typeface="Cambria"/>
                <a:cs typeface="Cambria"/>
                <a:sym typeface="Cambria"/>
              </a:rPr>
              <a:t>2</a:t>
            </a:r>
            <a:endParaRPr b="0" i="0" sz="1300" u="none" cap="none" strike="noStrike">
              <a:solidFill>
                <a:schemeClr val="dk1"/>
              </a:solidFill>
              <a:latin typeface="Calibri"/>
              <a:ea typeface="Calibri"/>
              <a:cs typeface="Calibri"/>
              <a:sym typeface="Calibri"/>
            </a:endParaRPr>
          </a:p>
        </p:txBody>
      </p:sp>
      <p:sp>
        <p:nvSpPr>
          <p:cNvPr id="327" name="Google Shape;327;p11"/>
          <p:cNvSpPr/>
          <p:nvPr/>
        </p:nvSpPr>
        <p:spPr>
          <a:xfrm>
            <a:off x="1143000" y="2267712"/>
            <a:ext cx="32004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mbria"/>
              <a:buNone/>
            </a:pPr>
            <a:r>
              <a:rPr b="1" i="0" lang="en-US" sz="1200" u="none" cap="none" strike="noStrike">
                <a:solidFill>
                  <a:srgbClr val="FFFFFF"/>
                </a:solidFill>
                <a:latin typeface="Cambria"/>
                <a:ea typeface="Cambria"/>
                <a:cs typeface="Cambria"/>
                <a:sym typeface="Cambria"/>
              </a:rPr>
              <a:t>Synthesis &amp; Implementation</a:t>
            </a:r>
            <a:endParaRPr b="0" i="0" sz="1200" u="none" cap="none" strike="noStrike">
              <a:solidFill>
                <a:schemeClr val="dk1"/>
              </a:solidFill>
              <a:latin typeface="Calibri"/>
              <a:ea typeface="Calibri"/>
              <a:cs typeface="Calibri"/>
              <a:sym typeface="Calibri"/>
            </a:endParaRPr>
          </a:p>
        </p:txBody>
      </p:sp>
      <p:sp>
        <p:nvSpPr>
          <p:cNvPr id="328" name="Google Shape;328;p11"/>
          <p:cNvSpPr/>
          <p:nvPr/>
        </p:nvSpPr>
        <p:spPr>
          <a:xfrm>
            <a:off x="1143000" y="2633472"/>
            <a:ext cx="32004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4CC"/>
              </a:buClr>
              <a:buSzPts val="1100"/>
              <a:buFont typeface="Calibri"/>
              <a:buNone/>
            </a:pPr>
            <a:r>
              <a:rPr b="0" i="0" lang="en-US" sz="1100" u="none" cap="none" strike="noStrike">
                <a:solidFill>
                  <a:srgbClr val="A0B4CC"/>
                </a:solidFill>
                <a:latin typeface="Calibri"/>
                <a:ea typeface="Calibri"/>
                <a:cs typeface="Calibri"/>
                <a:sym typeface="Calibri"/>
              </a:rPr>
              <a:t>Synthesized in Vivado targeting the Nexys A7-100T XDC constraints.</a:t>
            </a:r>
            <a:endParaRPr b="0" i="0" sz="1100" u="none" cap="none" strike="noStrike">
              <a:solidFill>
                <a:schemeClr val="dk1"/>
              </a:solidFill>
              <a:latin typeface="Calibri"/>
              <a:ea typeface="Calibri"/>
              <a:cs typeface="Calibri"/>
              <a:sym typeface="Calibri"/>
            </a:endParaRPr>
          </a:p>
        </p:txBody>
      </p:sp>
      <p:sp>
        <p:nvSpPr>
          <p:cNvPr id="329" name="Google Shape;329;p11"/>
          <p:cNvSpPr/>
          <p:nvPr/>
        </p:nvSpPr>
        <p:spPr>
          <a:xfrm>
            <a:off x="457200" y="3383280"/>
            <a:ext cx="4023360" cy="1005840"/>
          </a:xfrm>
          <a:prstGeom prst="roundRect">
            <a:avLst>
              <a:gd fmla="val 9091" name="adj"/>
            </a:avLst>
          </a:prstGeom>
          <a:solidFill>
            <a:srgbClr val="24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1"/>
          <p:cNvSpPr/>
          <p:nvPr/>
        </p:nvSpPr>
        <p:spPr>
          <a:xfrm>
            <a:off x="594360" y="3657600"/>
            <a:ext cx="411480" cy="411480"/>
          </a:xfrm>
          <a:prstGeom prst="ellipse">
            <a:avLst/>
          </a:prstGeom>
          <a:solidFill>
            <a:srgbClr val="02C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1"/>
          <p:cNvSpPr/>
          <p:nvPr/>
        </p:nvSpPr>
        <p:spPr>
          <a:xfrm>
            <a:off x="594360" y="365760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300"/>
              <a:buFont typeface="Cambria"/>
              <a:buNone/>
            </a:pPr>
            <a:r>
              <a:rPr b="1" i="0" lang="en-US" sz="1300" u="none" cap="none" strike="noStrike">
                <a:solidFill>
                  <a:srgbClr val="1B2A4A"/>
                </a:solidFill>
                <a:latin typeface="Cambria"/>
                <a:ea typeface="Cambria"/>
                <a:cs typeface="Cambria"/>
                <a:sym typeface="Cambria"/>
              </a:rPr>
              <a:t>3</a:t>
            </a:r>
            <a:endParaRPr b="0" i="0" sz="1300" u="none" cap="none" strike="noStrike">
              <a:solidFill>
                <a:schemeClr val="dk1"/>
              </a:solidFill>
              <a:latin typeface="Calibri"/>
              <a:ea typeface="Calibri"/>
              <a:cs typeface="Calibri"/>
              <a:sym typeface="Calibri"/>
            </a:endParaRPr>
          </a:p>
        </p:txBody>
      </p:sp>
      <p:sp>
        <p:nvSpPr>
          <p:cNvPr id="332" name="Google Shape;332;p11"/>
          <p:cNvSpPr/>
          <p:nvPr/>
        </p:nvSpPr>
        <p:spPr>
          <a:xfrm>
            <a:off x="1143000" y="3456432"/>
            <a:ext cx="32004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mbria"/>
              <a:buNone/>
            </a:pPr>
            <a:r>
              <a:rPr b="1" i="0" lang="en-US" sz="1200" u="none" cap="none" strike="noStrike">
                <a:solidFill>
                  <a:srgbClr val="FFFFFF"/>
                </a:solidFill>
                <a:latin typeface="Cambria"/>
                <a:ea typeface="Cambria"/>
                <a:cs typeface="Cambria"/>
                <a:sym typeface="Cambria"/>
              </a:rPr>
              <a:t>Hardware Validation</a:t>
            </a:r>
            <a:endParaRPr b="0" i="0" sz="1200" u="none" cap="none" strike="noStrike">
              <a:solidFill>
                <a:schemeClr val="dk1"/>
              </a:solidFill>
              <a:latin typeface="Calibri"/>
              <a:ea typeface="Calibri"/>
              <a:cs typeface="Calibri"/>
              <a:sym typeface="Calibri"/>
            </a:endParaRPr>
          </a:p>
        </p:txBody>
      </p:sp>
      <p:sp>
        <p:nvSpPr>
          <p:cNvPr id="333" name="Google Shape;333;p11"/>
          <p:cNvSpPr/>
          <p:nvPr/>
        </p:nvSpPr>
        <p:spPr>
          <a:xfrm>
            <a:off x="1143000" y="3822192"/>
            <a:ext cx="32004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0B4CC"/>
              </a:buClr>
              <a:buSzPts val="1100"/>
              <a:buFont typeface="Calibri"/>
              <a:buNone/>
            </a:pPr>
            <a:r>
              <a:rPr b="0" i="0" lang="en-US" sz="1100" u="none" cap="none" strike="noStrike">
                <a:solidFill>
                  <a:srgbClr val="A0B4CC"/>
                </a:solidFill>
                <a:latin typeface="Calibri"/>
                <a:ea typeface="Calibri"/>
                <a:cs typeface="Calibri"/>
                <a:sym typeface="Calibri"/>
              </a:rPr>
              <a:t>Bitstream loaded onto the physical FPGA board; button, switch, LED, and 7-seg behavior verified.</a:t>
            </a:r>
            <a:endParaRPr b="0" i="0" sz="1100" u="none" cap="none" strike="noStrike">
              <a:solidFill>
                <a:schemeClr val="dk1"/>
              </a:solidFill>
              <a:latin typeface="Calibri"/>
              <a:ea typeface="Calibri"/>
              <a:cs typeface="Calibri"/>
              <a:sym typeface="Calibri"/>
            </a:endParaRPr>
          </a:p>
        </p:txBody>
      </p:sp>
      <p:sp>
        <p:nvSpPr>
          <p:cNvPr id="334" name="Google Shape;334;p11"/>
          <p:cNvSpPr/>
          <p:nvPr/>
        </p:nvSpPr>
        <p:spPr>
          <a:xfrm>
            <a:off x="4754880" y="1005840"/>
            <a:ext cx="3931920" cy="3566160"/>
          </a:xfrm>
          <a:prstGeom prst="roundRect">
            <a:avLst>
              <a:gd fmla="val 3077" name="adj"/>
            </a:avLst>
          </a:prstGeom>
          <a:solidFill>
            <a:srgbClr val="243A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1"/>
          <p:cNvSpPr/>
          <p:nvPr/>
        </p:nvSpPr>
        <p:spPr>
          <a:xfrm>
            <a:off x="4937760" y="1097280"/>
            <a:ext cx="35661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C39A"/>
              </a:buClr>
              <a:buSzPts val="1400"/>
              <a:buFont typeface="Cambria"/>
              <a:buNone/>
            </a:pPr>
            <a:r>
              <a:rPr b="1" i="0" lang="en-US" sz="1400" u="none" cap="none" strike="noStrike">
                <a:solidFill>
                  <a:srgbClr val="02C39A"/>
                </a:solidFill>
                <a:latin typeface="Cambria"/>
                <a:ea typeface="Cambria"/>
                <a:cs typeface="Cambria"/>
                <a:sym typeface="Cambria"/>
              </a:rPr>
              <a:t>Key Facts</a:t>
            </a:r>
            <a:endParaRPr b="0" i="0" sz="1400" u="none" cap="none" strike="noStrike">
              <a:solidFill>
                <a:schemeClr val="dk1"/>
              </a:solidFill>
              <a:latin typeface="Calibri"/>
              <a:ea typeface="Calibri"/>
              <a:cs typeface="Calibri"/>
              <a:sym typeface="Calibri"/>
            </a:endParaRPr>
          </a:p>
        </p:txBody>
      </p:sp>
      <p:sp>
        <p:nvSpPr>
          <p:cNvPr id="336" name="Google Shape;336;p11"/>
          <p:cNvSpPr/>
          <p:nvPr/>
        </p:nvSpPr>
        <p:spPr>
          <a:xfrm>
            <a:off x="4937760" y="1554480"/>
            <a:ext cx="35661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  Max capacity: 15 spaces</a:t>
            </a:r>
            <a:endParaRPr b="0" i="0" sz="1100" u="none" cap="none" strike="noStrike">
              <a:solidFill>
                <a:schemeClr val="dk1"/>
              </a:solidFill>
              <a:latin typeface="Calibri"/>
              <a:ea typeface="Calibri"/>
              <a:cs typeface="Calibri"/>
              <a:sym typeface="Calibri"/>
            </a:endParaRPr>
          </a:p>
        </p:txBody>
      </p:sp>
      <p:sp>
        <p:nvSpPr>
          <p:cNvPr id="337" name="Google Shape;337;p11"/>
          <p:cNvSpPr/>
          <p:nvPr/>
        </p:nvSpPr>
        <p:spPr>
          <a:xfrm>
            <a:off x="4937760" y="1984248"/>
            <a:ext cx="35661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  Password: 4-bit (SW[3:0] = 1010)</a:t>
            </a:r>
            <a:endParaRPr b="0" i="0" sz="1100" u="none" cap="none" strike="noStrike">
              <a:solidFill>
                <a:schemeClr val="dk1"/>
              </a:solidFill>
              <a:latin typeface="Calibri"/>
              <a:ea typeface="Calibri"/>
              <a:cs typeface="Calibri"/>
              <a:sym typeface="Calibri"/>
            </a:endParaRPr>
          </a:p>
        </p:txBody>
      </p:sp>
      <p:sp>
        <p:nvSpPr>
          <p:cNvPr id="338" name="Google Shape;338;p11"/>
          <p:cNvSpPr/>
          <p:nvPr/>
        </p:nvSpPr>
        <p:spPr>
          <a:xfrm>
            <a:off x="4937760" y="2414016"/>
            <a:ext cx="35661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  Debounce: 20 ms per button</a:t>
            </a:r>
            <a:endParaRPr b="0" i="0" sz="1100" u="none" cap="none" strike="noStrike">
              <a:solidFill>
                <a:schemeClr val="dk1"/>
              </a:solidFill>
              <a:latin typeface="Calibri"/>
              <a:ea typeface="Calibri"/>
              <a:cs typeface="Calibri"/>
              <a:sym typeface="Calibri"/>
            </a:endParaRPr>
          </a:p>
        </p:txBody>
      </p:sp>
      <p:sp>
        <p:nvSpPr>
          <p:cNvPr id="339" name="Google Shape;339;p11"/>
          <p:cNvSpPr/>
          <p:nvPr/>
        </p:nvSpPr>
        <p:spPr>
          <a:xfrm>
            <a:off x="4937760" y="2843784"/>
            <a:ext cx="35661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  Clock: 100 MHz (E3 pin)</a:t>
            </a:r>
            <a:endParaRPr b="0" i="0" sz="1100" u="none" cap="none" strike="noStrike">
              <a:solidFill>
                <a:schemeClr val="dk1"/>
              </a:solidFill>
              <a:latin typeface="Calibri"/>
              <a:ea typeface="Calibri"/>
              <a:cs typeface="Calibri"/>
              <a:sym typeface="Calibri"/>
            </a:endParaRPr>
          </a:p>
        </p:txBody>
      </p:sp>
      <p:sp>
        <p:nvSpPr>
          <p:cNvPr id="340" name="Google Shape;340;p11"/>
          <p:cNvSpPr/>
          <p:nvPr/>
        </p:nvSpPr>
        <p:spPr>
          <a:xfrm>
            <a:off x="4937760" y="3273552"/>
            <a:ext cx="35661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  Display: 3-digit 7-segment</a:t>
            </a:r>
            <a:endParaRPr b="0" i="0" sz="1100" u="none" cap="none" strike="noStrike">
              <a:solidFill>
                <a:schemeClr val="dk1"/>
              </a:solidFill>
              <a:latin typeface="Calibri"/>
              <a:ea typeface="Calibri"/>
              <a:cs typeface="Calibri"/>
              <a:sym typeface="Calibri"/>
            </a:endParaRPr>
          </a:p>
        </p:txBody>
      </p:sp>
      <p:sp>
        <p:nvSpPr>
          <p:cNvPr id="341" name="Google Shape;341;p11"/>
          <p:cNvSpPr/>
          <p:nvPr/>
        </p:nvSpPr>
        <p:spPr>
          <a:xfrm>
            <a:off x="4937760" y="3703320"/>
            <a:ext cx="35661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  FPGA: Artix-7 XC7A100T</a:t>
            </a:r>
            <a:endParaRPr b="0" i="0" sz="1100" u="none" cap="none" strike="noStrike">
              <a:solidFill>
                <a:schemeClr val="dk1"/>
              </a:solidFill>
              <a:latin typeface="Calibri"/>
              <a:ea typeface="Calibri"/>
              <a:cs typeface="Calibri"/>
              <a:sym typeface="Calibri"/>
            </a:endParaRPr>
          </a:p>
        </p:txBody>
      </p:sp>
      <p:sp>
        <p:nvSpPr>
          <p:cNvPr id="342" name="Google Shape;342;p11"/>
          <p:cNvSpPr/>
          <p:nvPr/>
        </p:nvSpPr>
        <p:spPr>
          <a:xfrm>
            <a:off x="4937760" y="4133088"/>
            <a:ext cx="35661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100"/>
              <a:buFont typeface="Calibri"/>
              <a:buNone/>
            </a:pPr>
            <a:r>
              <a:rPr b="0" i="0" lang="en-US" sz="1100" u="none" cap="none" strike="noStrike">
                <a:solidFill>
                  <a:srgbClr val="CADCFC"/>
                </a:solidFill>
                <a:latin typeface="Calibri"/>
                <a:ea typeface="Calibri"/>
                <a:cs typeface="Calibri"/>
                <a:sym typeface="Calibri"/>
              </a:rPr>
              <a:t>▸  PCB tool: Altium Designer</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f0326eaa19_0_163"/>
          <p:cNvSpPr/>
          <p:nvPr/>
        </p:nvSpPr>
        <p:spPr>
          <a:xfrm>
            <a:off x="548640" y="274320"/>
            <a:ext cx="80466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2A4A"/>
              </a:buClr>
              <a:buSzPts val="2800"/>
              <a:buFont typeface="Cambria"/>
              <a:buNone/>
            </a:pPr>
            <a:r>
              <a:rPr b="1" i="0" lang="en-US" sz="2800" u="none" cap="none" strike="noStrike">
                <a:solidFill>
                  <a:srgbClr val="1B2A4A"/>
                </a:solidFill>
                <a:latin typeface="Cambria"/>
                <a:ea typeface="Cambria"/>
                <a:cs typeface="Cambria"/>
                <a:sym typeface="Cambria"/>
              </a:rPr>
              <a:t>Full Schematic &amp; PCB Design</a:t>
            </a:r>
            <a:endParaRPr b="0" i="0" sz="2800" u="none" cap="none" strike="noStrike">
              <a:solidFill>
                <a:srgbClr val="000000"/>
              </a:solidFill>
              <a:latin typeface="Calibri"/>
              <a:ea typeface="Calibri"/>
              <a:cs typeface="Calibri"/>
              <a:sym typeface="Calibri"/>
            </a:endParaRPr>
          </a:p>
        </p:txBody>
      </p:sp>
      <p:sp>
        <p:nvSpPr>
          <p:cNvPr id="349" name="Google Shape;349;g3f0326eaa19_0_163"/>
          <p:cNvSpPr txBox="1"/>
          <p:nvPr/>
        </p:nvSpPr>
        <p:spPr>
          <a:xfrm>
            <a:off x="457200" y="1250000"/>
            <a:ext cx="4039800" cy="2301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B2A4A"/>
                </a:solidFill>
                <a:latin typeface="Calibri"/>
                <a:ea typeface="Calibri"/>
                <a:cs typeface="Calibri"/>
                <a:sym typeface="Calibri"/>
              </a:rPr>
              <a:t>FPGA I/O Banks &amp; Power Schematic</a:t>
            </a:r>
            <a:endParaRPr/>
          </a:p>
        </p:txBody>
      </p:sp>
      <p:pic>
        <p:nvPicPr>
          <p:cNvPr id="350" name="Google Shape;350;g3f0326eaa19_0_163" title="sch_banks.png"/>
          <p:cNvPicPr preferRelativeResize="0"/>
          <p:nvPr/>
        </p:nvPicPr>
        <p:blipFill rotWithShape="1">
          <a:blip r:embed="rId3">
            <a:alphaModFix/>
          </a:blip>
          <a:srcRect b="0" l="0" r="0" t="0"/>
          <a:stretch/>
        </p:blipFill>
        <p:spPr>
          <a:xfrm>
            <a:off x="1293320" y="1480000"/>
            <a:ext cx="2367560" cy="1570000"/>
          </a:xfrm>
          <a:prstGeom prst="rect">
            <a:avLst/>
          </a:prstGeom>
          <a:noFill/>
          <a:ln cap="flat" cmpd="sng" w="9525">
            <a:solidFill>
              <a:srgbClr val="D9DEE5"/>
            </a:solidFill>
            <a:prstDash val="solid"/>
            <a:round/>
            <a:headEnd len="sm" w="sm" type="none"/>
            <a:tailEnd len="sm" w="sm" type="none"/>
          </a:ln>
        </p:spPr>
      </p:pic>
      <p:sp>
        <p:nvSpPr>
          <p:cNvPr id="351" name="Google Shape;351;g3f0326eaa19_0_163"/>
          <p:cNvSpPr txBox="1"/>
          <p:nvPr/>
        </p:nvSpPr>
        <p:spPr>
          <a:xfrm>
            <a:off x="4647000" y="1250000"/>
            <a:ext cx="4039800" cy="2301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B2A4A"/>
                </a:solidFill>
                <a:latin typeface="Calibri"/>
                <a:ea typeface="Calibri"/>
                <a:cs typeface="Calibri"/>
                <a:sym typeface="Calibri"/>
              </a:rPr>
              <a:t>Parking System Schematic (Buttons, LEDs, Display)</a:t>
            </a:r>
            <a:endParaRPr/>
          </a:p>
        </p:txBody>
      </p:sp>
      <p:pic>
        <p:nvPicPr>
          <p:cNvPr id="352" name="Google Shape;352;g3f0326eaa19_0_163" title="sch_parking.png"/>
          <p:cNvPicPr preferRelativeResize="0"/>
          <p:nvPr/>
        </p:nvPicPr>
        <p:blipFill rotWithShape="1">
          <a:blip r:embed="rId4">
            <a:alphaModFix/>
          </a:blip>
          <a:srcRect b="0" l="0" r="0" t="0"/>
          <a:stretch/>
        </p:blipFill>
        <p:spPr>
          <a:xfrm>
            <a:off x="5431310" y="1480000"/>
            <a:ext cx="2471180" cy="1569999"/>
          </a:xfrm>
          <a:prstGeom prst="rect">
            <a:avLst/>
          </a:prstGeom>
          <a:noFill/>
          <a:ln cap="flat" cmpd="sng" w="9525">
            <a:solidFill>
              <a:srgbClr val="D9DEE5"/>
            </a:solidFill>
            <a:prstDash val="solid"/>
            <a:round/>
            <a:headEnd len="sm" w="sm" type="none"/>
            <a:tailEnd len="sm" w="sm" type="none"/>
          </a:ln>
        </p:spPr>
      </p:pic>
      <p:sp>
        <p:nvSpPr>
          <p:cNvPr id="353" name="Google Shape;353;g3f0326eaa19_0_163"/>
          <p:cNvSpPr txBox="1"/>
          <p:nvPr/>
        </p:nvSpPr>
        <p:spPr>
          <a:xfrm>
            <a:off x="457200" y="3200000"/>
            <a:ext cx="4039800" cy="2301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lang="en-US" sz="1100">
                <a:solidFill>
                  <a:srgbClr val="1B2A4A"/>
                </a:solidFill>
                <a:latin typeface="Calibri"/>
                <a:ea typeface="Calibri"/>
                <a:cs typeface="Calibri"/>
                <a:sym typeface="Calibri"/>
              </a:rPr>
              <a:t>PCB Design</a:t>
            </a:r>
            <a:endParaRPr/>
          </a:p>
        </p:txBody>
      </p:sp>
      <p:sp>
        <p:nvSpPr>
          <p:cNvPr id="354" name="Google Shape;354;g3f0326eaa19_0_163"/>
          <p:cNvSpPr txBox="1"/>
          <p:nvPr/>
        </p:nvSpPr>
        <p:spPr>
          <a:xfrm>
            <a:off x="4647000" y="3200000"/>
            <a:ext cx="4039800" cy="2301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B2A4A"/>
                </a:solidFill>
                <a:latin typeface="Calibri"/>
                <a:ea typeface="Calibri"/>
                <a:cs typeface="Calibri"/>
                <a:sym typeface="Calibri"/>
              </a:rPr>
              <a:t>Routed PCB </a:t>
            </a:r>
            <a:r>
              <a:rPr b="1" lang="en-US" sz="1100">
                <a:solidFill>
                  <a:srgbClr val="1B2A4A"/>
                </a:solidFill>
                <a:latin typeface="Calibri"/>
                <a:ea typeface="Calibri"/>
                <a:cs typeface="Calibri"/>
                <a:sym typeface="Calibri"/>
              </a:rPr>
              <a:t>-</a:t>
            </a:r>
            <a:r>
              <a:rPr b="1" i="0" lang="en-US" sz="1100" u="none" cap="none" strike="noStrike">
                <a:solidFill>
                  <a:srgbClr val="1B2A4A"/>
                </a:solidFill>
                <a:latin typeface="Calibri"/>
                <a:ea typeface="Calibri"/>
                <a:cs typeface="Calibri"/>
                <a:sym typeface="Calibri"/>
              </a:rPr>
              <a:t> Altium Designer</a:t>
            </a:r>
            <a:endParaRPr/>
          </a:p>
        </p:txBody>
      </p:sp>
      <p:pic>
        <p:nvPicPr>
          <p:cNvPr id="355" name="Google Shape;355;g3f0326eaa19_0_163" title="pcb_routing.png"/>
          <p:cNvPicPr preferRelativeResize="0"/>
          <p:nvPr/>
        </p:nvPicPr>
        <p:blipFill rotWithShape="1">
          <a:blip r:embed="rId5">
            <a:alphaModFix/>
          </a:blip>
          <a:srcRect b="0" l="0" r="0" t="0"/>
          <a:stretch/>
        </p:blipFill>
        <p:spPr>
          <a:xfrm>
            <a:off x="5489400" y="3430000"/>
            <a:ext cx="2355000" cy="1570000"/>
          </a:xfrm>
          <a:prstGeom prst="rect">
            <a:avLst/>
          </a:prstGeom>
          <a:noFill/>
          <a:ln cap="flat" cmpd="sng" w="9525">
            <a:solidFill>
              <a:srgbClr val="D9DEE5"/>
            </a:solidFill>
            <a:prstDash val="solid"/>
            <a:round/>
            <a:headEnd len="sm" w="sm" type="none"/>
            <a:tailEnd len="sm" w="sm" type="none"/>
          </a:ln>
        </p:spPr>
      </p:pic>
      <p:sp>
        <p:nvSpPr>
          <p:cNvPr id="356" name="Google Shape;356;g3f0326eaa19_0_163"/>
          <p:cNvSpPr txBox="1"/>
          <p:nvPr/>
        </p:nvSpPr>
        <p:spPr>
          <a:xfrm>
            <a:off x="687250" y="841675"/>
            <a:ext cx="6948300" cy="34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4A5568"/>
              </a:buClr>
              <a:buSzPts val="1300"/>
              <a:buFont typeface="Calibri"/>
              <a:buNone/>
            </a:pPr>
            <a:r>
              <a:rPr b="0" i="0" lang="en-US" sz="1300" u="none" cap="none" strike="noStrike">
                <a:solidFill>
                  <a:srgbClr val="4A5568"/>
                </a:solidFill>
                <a:latin typeface="Calibri"/>
                <a:ea typeface="Calibri"/>
                <a:cs typeface="Calibri"/>
                <a:sym typeface="Calibri"/>
              </a:rPr>
              <a:t>Complete circuit schematic and routed board layout, designed in Altium Designer.</a:t>
            </a:r>
            <a:endParaRPr b="0" i="0" sz="13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7" name="Google Shape;357;g3f0326eaa19_0_163"/>
          <p:cNvPicPr preferRelativeResize="0"/>
          <p:nvPr/>
        </p:nvPicPr>
        <p:blipFill>
          <a:blip r:embed="rId6">
            <a:alphaModFix/>
          </a:blip>
          <a:stretch>
            <a:fillRect/>
          </a:stretch>
        </p:blipFill>
        <p:spPr>
          <a:xfrm>
            <a:off x="1213916" y="3429996"/>
            <a:ext cx="2361735" cy="1570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2026-07-01T09:51:43Z</dcterms:created>
  <dc:creator>PptxGenJS</dc:creator>
</cp:coreProperties>
</file>